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38383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040880" y="-1645920"/>
            <a:ext cx="6035040" cy="6035040"/>
          </a:xfrm>
          <a:prstGeom prst="ellipse">
            <a:avLst/>
          </a:prstGeom>
          <a:solidFill>
            <a:srgbClr val="1F3864">
              <a:alpha val="0"/>
            </a:srgbClr>
          </a:solidFill>
          <a:ln w="9525">
            <a:solidFill>
              <a:srgbClr val="D8E4F0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914400"/>
            <a:ext cx="4572000" cy="4572000"/>
          </a:xfrm>
          <a:prstGeom prst="ellipse">
            <a:avLst/>
          </a:prstGeom>
          <a:solidFill>
            <a:srgbClr val="1F3864">
              <a:alpha val="0"/>
            </a:srgbClr>
          </a:solidFill>
          <a:ln w="9525">
            <a:solidFill>
              <a:srgbClr val="D8E4F0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0" y="-182880"/>
            <a:ext cx="3108960" cy="3108960"/>
          </a:xfrm>
          <a:prstGeom prst="ellipse">
            <a:avLst/>
          </a:prstGeom>
          <a:solidFill>
            <a:srgbClr val="1F3864">
              <a:alpha val="0"/>
            </a:srgbClr>
          </a:solidFill>
          <a:ln w="9525">
            <a:solidFill>
              <a:srgbClr val="D8E4F0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89720" y="502920"/>
            <a:ext cx="1737360" cy="1737360"/>
          </a:xfrm>
          <a:prstGeom prst="ellipse">
            <a:avLst/>
          </a:prstGeom>
          <a:solidFill>
            <a:srgbClr val="1F3864">
              <a:alpha val="0"/>
            </a:srgbClr>
          </a:solidFill>
          <a:ln w="9525">
            <a:solidFill>
              <a:srgbClr val="D8E4F0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48672" y="1261872"/>
            <a:ext cx="219456" cy="219456"/>
          </a:xfrm>
          <a:prstGeom prst="ellipse">
            <a:avLst/>
          </a:prstGeom>
          <a:solidFill>
            <a:srgbClr val="FF5D6A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874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40" kern="0" dirty="0">
                <a:solidFill>
                  <a:srgbClr val="D8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ALL-EMPLOYEE E-LEARNING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2286000"/>
            <a:ext cx="8595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6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プロンプト</a:t>
            </a:r>
            <a:endParaRPr lang="en-US" sz="4600" dirty="0"/>
          </a:p>
          <a:p>
            <a:pPr indent="0" marL="0">
              <a:lnSpc>
                <a:spcPts val="66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エンジニアリング</a:t>
            </a:r>
            <a:endParaRPr lang="en-US" sz="4600" dirty="0"/>
          </a:p>
        </p:txBody>
      </p:sp>
      <p:sp>
        <p:nvSpPr>
          <p:cNvPr id="10" name="Shape 8"/>
          <p:cNvSpPr/>
          <p:nvPr/>
        </p:nvSpPr>
        <p:spPr>
          <a:xfrm>
            <a:off x="713232" y="4315968"/>
            <a:ext cx="731520" cy="32004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DEE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AIから欲しい答えを引き出すための、「絞り込み」の技術。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13232" y="5120640"/>
            <a:ext cx="3520440" cy="420624"/>
          </a:xfrm>
          <a:prstGeom prst="roundRect">
            <a:avLst>
              <a:gd name="adj" fmla="val 10870"/>
            </a:avLst>
          </a:prstGeom>
          <a:solidFill>
            <a:srgbClr val="1F3864">
              <a:alpha val="0"/>
            </a:srgbClr>
          </a:solidFill>
          <a:ln w="12700">
            <a:solidFill>
              <a:srgbClr val="8FA6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5120640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4EBF5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この講座に、AIの専門知識は要りません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38383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AB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" y="3840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0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2194560" y="516636"/>
            <a:ext cx="237744" cy="18288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5" name="Text 3"/>
          <p:cNvSpPr/>
          <p:nvPr/>
        </p:nvSpPr>
        <p:spPr>
          <a:xfrm>
            <a:off x="2560320" y="3840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導入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" y="1051560"/>
            <a:ext cx="10765231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60"/>
              </a:lnSpc>
              <a:buNone/>
            </a:pPr>
            <a:r>
              <a:rPr lang="en-US" sz="3000" dirty="0">
                <a:solidFill>
                  <a:srgbClr val="1A1A2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この20分が終わったとき、</a:t>
            </a:r>
            <a:endParaRPr lang="en-US" sz="3000" dirty="0"/>
          </a:p>
          <a:p>
            <a:pPr indent="0" marL="0">
              <a:lnSpc>
                <a:spcPts val="4260"/>
              </a:lnSpc>
              <a:buNone/>
            </a:pPr>
            <a:r>
              <a:rPr lang="en-US" sz="3000" dirty="0">
                <a:solidFill>
                  <a:srgbClr val="1A1A2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あなたはこうなっています。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13232" y="3063240"/>
            <a:ext cx="340553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E8E6E0"/>
            </a:solidFill>
            <a:prstDash val="solid"/>
          </a:ln>
          <a:effectLst>
            <a:outerShdw sx="100000" sy="100000" kx="0" ky="0" algn="bl" rotWithShape="0" blurRad="177800" dist="25400" dir="5400000">
              <a:srgbClr val="1A1A2E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87552" y="3337560"/>
            <a:ext cx="384048" cy="384048"/>
          </a:xfrm>
          <a:prstGeom prst="ellipse">
            <a:avLst/>
          </a:prstGeom>
          <a:solidFill>
            <a:srgbClr val="2E5496"/>
          </a:solidFill>
          <a:ln/>
        </p:spPr>
      </p:sp>
      <p:sp>
        <p:nvSpPr>
          <p:cNvPr id="9" name="Text 7"/>
          <p:cNvSpPr/>
          <p:nvPr/>
        </p:nvSpPr>
        <p:spPr>
          <a:xfrm>
            <a:off x="987552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87552" y="3904488"/>
            <a:ext cx="285689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ぼんやりした答えの理由が分かる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87552" y="4764024"/>
            <a:ext cx="28568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AIの答えが薄いのは、AIの性能ではなく「聞き方」の問題だと分かります。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93082" y="3063240"/>
            <a:ext cx="340553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E8E6E0"/>
            </a:solidFill>
            <a:prstDash val="solid"/>
          </a:ln>
          <a:effectLst>
            <a:outerShdw sx="100000" sy="100000" kx="0" ky="0" algn="bl" rotWithShape="0" blurRad="177800" dist="25400" dir="5400000">
              <a:srgbClr val="1A1A2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7402" y="3337560"/>
            <a:ext cx="384048" cy="384048"/>
          </a:xfrm>
          <a:prstGeom prst="ellipse">
            <a:avLst/>
          </a:prstGeom>
          <a:solidFill>
            <a:srgbClr val="2E5496"/>
          </a:solidFill>
          <a:ln/>
        </p:spPr>
      </p:sp>
      <p:sp>
        <p:nvSpPr>
          <p:cNvPr id="14" name="Text 12"/>
          <p:cNvSpPr/>
          <p:nvPr/>
        </p:nvSpPr>
        <p:spPr>
          <a:xfrm>
            <a:off x="4667402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7402" y="3904488"/>
            <a:ext cx="285689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何を書けばいいかが分かる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67402" y="4489704"/>
            <a:ext cx="285689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プロンプトに入れるべき4つの要素を、順番どおりに書けるようになります。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72933" y="3063240"/>
            <a:ext cx="340553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E8E6E0"/>
            </a:solidFill>
            <a:prstDash val="solid"/>
          </a:ln>
          <a:effectLst>
            <a:outerShdw sx="100000" sy="100000" kx="0" ky="0" algn="bl" rotWithShape="0" blurRad="177800" dist="25400" dir="5400000">
              <a:srgbClr val="1A1A2E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47253" y="3337560"/>
            <a:ext cx="384048" cy="384048"/>
          </a:xfrm>
          <a:prstGeom prst="ellipse">
            <a:avLst/>
          </a:prstGeom>
          <a:solidFill>
            <a:srgbClr val="2E5496"/>
          </a:solidFill>
          <a:ln/>
        </p:spPr>
      </p:sp>
      <p:sp>
        <p:nvSpPr>
          <p:cNvPr id="19" name="Text 17"/>
          <p:cNvSpPr/>
          <p:nvPr/>
        </p:nvSpPr>
        <p:spPr>
          <a:xfrm>
            <a:off x="8347253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47253" y="3904488"/>
            <a:ext cx="285689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プロンプトの限界も分かる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47253" y="4489704"/>
            <a:ext cx="285689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毎回書き続けるのは無理。その先に何があるのかまで見えます。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38383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" y="3840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8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1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2194560" y="516636"/>
            <a:ext cx="237744" cy="18288"/>
          </a:xfrm>
          <a:prstGeom prst="rect">
            <a:avLst/>
          </a:prstGeom>
          <a:solidFill>
            <a:srgbClr val="D8E4F0"/>
          </a:solidFill>
          <a:ln/>
        </p:spPr>
      </p:sp>
      <p:sp>
        <p:nvSpPr>
          <p:cNvPr id="5" name="Text 3"/>
          <p:cNvSpPr/>
          <p:nvPr/>
        </p:nvSpPr>
        <p:spPr>
          <a:xfrm>
            <a:off x="2560320" y="3840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CB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なぜ、答えがぼんやりするのか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" y="1051560"/>
            <a:ext cx="10765231" cy="810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544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こんな経験、ありませんか。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13232" y="2103120"/>
            <a:ext cx="7406640" cy="841248"/>
          </a:xfrm>
          <a:prstGeom prst="roundRect">
            <a:avLst>
              <a:gd name="adj" fmla="val 10870"/>
            </a:avLst>
          </a:prstGeom>
          <a:solidFill>
            <a:srgbClr val="2A4270"/>
          </a:solidFill>
          <a:ln w="9525">
            <a:solidFill>
              <a:srgbClr val="3A54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103120"/>
            <a:ext cx="66385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「一般論しか返ってこない」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176272" y="3108960"/>
            <a:ext cx="7406640" cy="841248"/>
          </a:xfrm>
          <a:prstGeom prst="roundRect">
            <a:avLst>
              <a:gd name="adj" fmla="val 10870"/>
            </a:avLst>
          </a:prstGeom>
          <a:solidFill>
            <a:srgbClr val="2A4270"/>
          </a:solidFill>
          <a:ln w="9525">
            <a:solidFill>
              <a:srgbClr val="3A54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3108960"/>
            <a:ext cx="66385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「そのまま使えないから、結局まるごと書き直した」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639312" y="4114800"/>
            <a:ext cx="7406640" cy="841248"/>
          </a:xfrm>
          <a:prstGeom prst="roundRect">
            <a:avLst>
              <a:gd name="adj" fmla="val 10870"/>
            </a:avLst>
          </a:prstGeom>
          <a:solidFill>
            <a:srgbClr val="2A4270"/>
          </a:solidFill>
          <a:ln w="9525">
            <a:solidFill>
              <a:srgbClr val="3A54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0" y="4114800"/>
            <a:ext cx="66385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「調べれば分かることしか言ってくれない」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3232" y="5349240"/>
            <a:ext cx="107652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C3CEE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これはAIの性能の問題ではありません。</a:t>
            </a:r>
            <a:pPr indent="0" marL="0">
              <a:lnSpc>
                <a:spcPts val="2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聞き方の問題</a:t>
            </a:r>
            <a:pPr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C3CEE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です。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38383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AB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" y="3840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1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2194560" y="516636"/>
            <a:ext cx="237744" cy="18288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5" name="Text 3"/>
          <p:cNvSpPr/>
          <p:nvPr/>
        </p:nvSpPr>
        <p:spPr>
          <a:xfrm>
            <a:off x="2560320" y="3840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なぜ、答えがぼんやりするのか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" y="1051560"/>
            <a:ext cx="10765231" cy="810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544"/>
              </a:lnSpc>
              <a:buNone/>
            </a:pPr>
            <a:r>
              <a:rPr lang="en-US" sz="3200" dirty="0">
                <a:solidFill>
                  <a:srgbClr val="1A1A2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ぼんやり聞くから、ぼんやり返ってくる。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13232" y="2286000"/>
            <a:ext cx="4993996" cy="2514600"/>
          </a:xfrm>
          <a:prstGeom prst="roundRect">
            <a:avLst>
              <a:gd name="adj" fmla="val 2545"/>
            </a:avLst>
          </a:prstGeom>
          <a:solidFill>
            <a:srgbClr val="402A3E"/>
          </a:solidFill>
          <a:ln w="15875">
            <a:solidFill>
              <a:srgbClr val="FF5D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8992" y="2615184"/>
            <a:ext cx="1371600" cy="310896"/>
          </a:xfrm>
          <a:prstGeom prst="roundRect">
            <a:avLst>
              <a:gd name="adj" fmla="val 11765"/>
            </a:avLst>
          </a:prstGeom>
          <a:solidFill>
            <a:srgbClr val="5C3140"/>
          </a:solidFill>
          <a:ln/>
        </p:spPr>
      </p:sp>
      <p:sp>
        <p:nvSpPr>
          <p:cNvPr id="9" name="Text 7"/>
          <p:cNvSpPr/>
          <p:nvPr/>
        </p:nvSpPr>
        <p:spPr>
          <a:xfrm>
            <a:off x="1078992" y="261518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5D6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あなたの入力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78992" y="3154680"/>
            <a:ext cx="42624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「研修について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　まとめて」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78992" y="4114800"/>
            <a:ext cx="42624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D0C2C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誰向けか、何のためか、どのくらいの長さか。何も決まっていません。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807812" y="3250692"/>
            <a:ext cx="576072" cy="576072"/>
          </a:xfrm>
          <a:prstGeom prst="ellipse">
            <a:avLst/>
          </a:prstGeom>
          <a:solidFill>
            <a:srgbClr val="3A548A"/>
          </a:solidFill>
          <a:ln/>
        </p:spPr>
      </p:sp>
      <p:sp>
        <p:nvSpPr>
          <p:cNvPr id="13" name="Text 11"/>
          <p:cNvSpPr/>
          <p:nvPr/>
        </p:nvSpPr>
        <p:spPr>
          <a:xfrm>
            <a:off x="5807812" y="3250692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84468" y="2286000"/>
            <a:ext cx="4993996" cy="2514600"/>
          </a:xfrm>
          <a:prstGeom prst="roundRect">
            <a:avLst>
              <a:gd name="adj" fmla="val 2545"/>
            </a:avLst>
          </a:prstGeom>
          <a:solidFill>
            <a:srgbClr val="2A4270"/>
          </a:solidFill>
          <a:ln w="15875">
            <a:solidFill>
              <a:srgbClr val="3A54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0228" y="2615184"/>
            <a:ext cx="1371600" cy="310896"/>
          </a:xfrm>
          <a:prstGeom prst="roundRect">
            <a:avLst>
              <a:gd name="adj" fmla="val 11765"/>
            </a:avLst>
          </a:prstGeom>
          <a:solidFill>
            <a:srgbClr val="3A548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0228" y="261518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AIの答え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50228" y="3154680"/>
            <a:ext cx="42624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「研修とは、社員の能力開発を目的とした……」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0228" y="4114800"/>
            <a:ext cx="42624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BFCAD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決まっていないことは、AIが勝手に「一番あたりさわりのない形」で埋めます。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3232" y="5029200"/>
            <a:ext cx="107652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AIは、聞かれなかったことを勝手に確認してはくれません。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38383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" y="3840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8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2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2194560" y="516636"/>
            <a:ext cx="237744" cy="18288"/>
          </a:xfrm>
          <a:prstGeom prst="rect">
            <a:avLst/>
          </a:prstGeom>
          <a:solidFill>
            <a:srgbClr val="D8E4F0"/>
          </a:solidFill>
          <a:ln/>
        </p:spPr>
      </p:sp>
      <p:sp>
        <p:nvSpPr>
          <p:cNvPr id="5" name="Text 3"/>
          <p:cNvSpPr/>
          <p:nvPr/>
        </p:nvSpPr>
        <p:spPr>
          <a:xfrm>
            <a:off x="2560320" y="3840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CB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プロンプトは「絞り込み」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" y="1051560"/>
            <a:ext cx="10765231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6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食べログで「東京」とだけ入れて、</a:t>
            </a:r>
            <a:endParaRPr lang="en-US" sz="3000" dirty="0"/>
          </a:p>
          <a:p>
            <a:pPr indent="0" marL="0">
              <a:lnSpc>
                <a:spcPts val="426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一番上の店に行きますか？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13232" y="2514600"/>
            <a:ext cx="1076523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C3CEE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やらないですよね。私たちは無意識に、条件を足して絞り込んでいます。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13232" y="3246120"/>
            <a:ext cx="1700784" cy="457200"/>
          </a:xfrm>
          <a:prstGeom prst="roundRect">
            <a:avLst>
              <a:gd name="adj" fmla="val 50000"/>
            </a:avLst>
          </a:prstGeom>
          <a:solidFill>
            <a:srgbClr val="2A4270"/>
          </a:solidFill>
          <a:ln w="9525">
            <a:solidFill>
              <a:srgbClr val="D8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324612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エリアを選ぶ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587752" y="3246120"/>
            <a:ext cx="1700784" cy="457200"/>
          </a:xfrm>
          <a:prstGeom prst="roundRect">
            <a:avLst>
              <a:gd name="adj" fmla="val 50000"/>
            </a:avLst>
          </a:prstGeom>
          <a:solidFill>
            <a:srgbClr val="2A4270"/>
          </a:solidFill>
          <a:ln w="9525">
            <a:solidFill>
              <a:srgbClr val="D8E4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87752" y="324612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予算を決める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62272" y="3246120"/>
            <a:ext cx="1700784" cy="457200"/>
          </a:xfrm>
          <a:prstGeom prst="roundRect">
            <a:avLst>
              <a:gd name="adj" fmla="val 50000"/>
            </a:avLst>
          </a:prstGeom>
          <a:solidFill>
            <a:srgbClr val="2A4270"/>
          </a:solidFill>
          <a:ln w="9525">
            <a:solidFill>
              <a:srgbClr val="D8E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62272" y="324612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ジャンルを絞る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13232" y="3813048"/>
            <a:ext cx="1700784" cy="457200"/>
          </a:xfrm>
          <a:prstGeom prst="roundRect">
            <a:avLst>
              <a:gd name="adj" fmla="val 50000"/>
            </a:avLst>
          </a:prstGeom>
          <a:solidFill>
            <a:srgbClr val="2A4270"/>
          </a:solidFill>
          <a:ln w="9525">
            <a:solidFill>
              <a:srgbClr val="D8E4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81304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個室あり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587752" y="3813048"/>
            <a:ext cx="1700784" cy="457200"/>
          </a:xfrm>
          <a:prstGeom prst="roundRect">
            <a:avLst>
              <a:gd name="adj" fmla="val 50000"/>
            </a:avLst>
          </a:prstGeom>
          <a:solidFill>
            <a:srgbClr val="2A4270"/>
          </a:solidFill>
          <a:ln w="9525">
            <a:solidFill>
              <a:srgbClr val="D8E4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87752" y="381304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禁煙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462272" y="3813048"/>
            <a:ext cx="1700784" cy="457200"/>
          </a:xfrm>
          <a:prstGeom prst="roundRect">
            <a:avLst>
              <a:gd name="adj" fmla="val 50000"/>
            </a:avLst>
          </a:prstGeom>
          <a:solidFill>
            <a:srgbClr val="2A4270"/>
          </a:solidFill>
          <a:ln w="9525">
            <a:solidFill>
              <a:srgbClr val="D8E4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62272" y="381304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今夜19時・4名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48856" y="3063240"/>
            <a:ext cx="4629607" cy="1874520"/>
          </a:xfrm>
          <a:prstGeom prst="roundRect">
            <a:avLst>
              <a:gd name="adj" fmla="val 3415"/>
            </a:avLst>
          </a:prstGeom>
          <a:solidFill>
            <a:srgbClr val="2A4270"/>
          </a:solidFill>
          <a:ln w="9525">
            <a:solidFill>
              <a:srgbClr val="3A54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14616" y="3063240"/>
            <a:ext cx="3898087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BFCAD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SUUMOでも同じです。
</a:t>
            </a:r>
            <a:pPr indent="0" marL="0">
              <a:lnSpc>
                <a:spcPts val="2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沿線・家賃・広さ・築年数・駅徒歩。
</a:t>
            </a:r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BFCAD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条件を足すほど、欲しい物件に近づく。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38383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AB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" y="3840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2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2194560" y="516636"/>
            <a:ext cx="237744" cy="18288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5" name="Text 3"/>
          <p:cNvSpPr/>
          <p:nvPr/>
        </p:nvSpPr>
        <p:spPr>
          <a:xfrm>
            <a:off x="2560320" y="3840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プロンプトは「絞り込み」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" y="1051560"/>
            <a:ext cx="10765231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60"/>
              </a:lnSpc>
              <a:buNone/>
            </a:pPr>
            <a:r>
              <a:rPr lang="en-US" sz="3000" dirty="0">
                <a:solidFill>
                  <a:srgbClr val="1A1A2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条件を足すほど、答えは「自分ごと」に近づく。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13232" y="2286000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条件なし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730752" y="2286000"/>
            <a:ext cx="7747711" cy="658368"/>
          </a:xfrm>
          <a:prstGeom prst="roundRect">
            <a:avLst>
              <a:gd name="adj" fmla="val 6944"/>
            </a:avLst>
          </a:prstGeom>
          <a:solidFill>
            <a:srgbClr val="C9D2E0"/>
          </a:solidFill>
          <a:ln/>
        </p:spPr>
      </p:sp>
      <p:sp>
        <p:nvSpPr>
          <p:cNvPr id="9" name="Text 7"/>
          <p:cNvSpPr/>
          <p:nvPr/>
        </p:nvSpPr>
        <p:spPr>
          <a:xfrm>
            <a:off x="3950208" y="2286000"/>
            <a:ext cx="626638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「東京」だけ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180015" y="2286000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120,000 件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3232" y="3163824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＋ エリア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730752" y="3163824"/>
            <a:ext cx="5733306" cy="658368"/>
          </a:xfrm>
          <a:prstGeom prst="roundRect">
            <a:avLst>
              <a:gd name="adj" fmla="val 6944"/>
            </a:avLst>
          </a:prstGeom>
          <a:solidFill>
            <a:srgbClr val="AFC0D8"/>
          </a:solidFill>
          <a:ln/>
        </p:spPr>
      </p:sp>
      <p:sp>
        <p:nvSpPr>
          <p:cNvPr id="13" name="Text 11"/>
          <p:cNvSpPr/>
          <p:nvPr/>
        </p:nvSpPr>
        <p:spPr>
          <a:xfrm>
            <a:off x="3950208" y="3163824"/>
            <a:ext cx="425197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渋谷駅から徒歩10分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165610" y="3163824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3,200 件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3232" y="4041648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＋ 予算・ジャンル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30752" y="4041648"/>
            <a:ext cx="4028810" cy="658368"/>
          </a:xfrm>
          <a:prstGeom prst="roundRect">
            <a:avLst>
              <a:gd name="adj" fmla="val 6944"/>
            </a:avLst>
          </a:prstGeom>
          <a:solidFill>
            <a:srgbClr val="2E5496"/>
          </a:solidFill>
          <a:ln/>
        </p:spPr>
      </p:sp>
      <p:sp>
        <p:nvSpPr>
          <p:cNvPr id="17" name="Text 15"/>
          <p:cNvSpPr/>
          <p:nvPr/>
        </p:nvSpPr>
        <p:spPr>
          <a:xfrm>
            <a:off x="3950208" y="4041648"/>
            <a:ext cx="254748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1人5,000円 / 和食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61114" y="4041648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480 件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3232" y="4919472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＋ 細かな条件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730752" y="4919472"/>
            <a:ext cx="2944130" cy="658368"/>
          </a:xfrm>
          <a:prstGeom prst="roundRect">
            <a:avLst>
              <a:gd name="adj" fmla="val 6944"/>
            </a:avLst>
          </a:prstGeom>
          <a:solidFill>
            <a:srgbClr val="1F3864"/>
          </a:solidFill>
          <a:ln/>
        </p:spPr>
      </p:sp>
      <p:sp>
        <p:nvSpPr>
          <p:cNvPr id="21" name="Text 19"/>
          <p:cNvSpPr/>
          <p:nvPr/>
        </p:nvSpPr>
        <p:spPr>
          <a:xfrm>
            <a:off x="3950208" y="4919472"/>
            <a:ext cx="146280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個室あり・19時・4名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376434" y="4919472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件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13232" y="5806440"/>
            <a:ext cx="107652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プロンプトを書くとは、</a:t>
            </a:r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AIの答えを絞り込むこと</a:t>
            </a:r>
            <a:pPr algn="ctr" indent="0" marL="0">
              <a:buNone/>
            </a:pPr>
            <a:r>
              <a:rPr lang="en-US" sz="15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です。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38383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" y="3840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8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2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2194560" y="516636"/>
            <a:ext cx="237744" cy="18288"/>
          </a:xfrm>
          <a:prstGeom prst="rect">
            <a:avLst/>
          </a:prstGeom>
          <a:solidFill>
            <a:srgbClr val="D8E4F0"/>
          </a:solidFill>
          <a:ln/>
        </p:spPr>
      </p:sp>
      <p:sp>
        <p:nvSpPr>
          <p:cNvPr id="5" name="Text 3"/>
          <p:cNvSpPr/>
          <p:nvPr/>
        </p:nvSpPr>
        <p:spPr>
          <a:xfrm>
            <a:off x="2560320" y="3840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CB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プロンプトは「絞り込み」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13232" y="1325880"/>
            <a:ext cx="10765231" cy="3063240"/>
          </a:xfrm>
          <a:prstGeom prst="roundRect">
            <a:avLst>
              <a:gd name="adj" fmla="val 2388"/>
            </a:avLst>
          </a:prstGeom>
          <a:solidFill>
            <a:srgbClr val="2A4270"/>
          </a:solidFill>
          <a:ln w="9525">
            <a:solidFill>
              <a:srgbClr val="3A54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664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80160" y="2066544"/>
            <a:ext cx="963137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AIが持っている膨大な答えの中から、
</a:t>
            </a:r>
            <a:pPr indent="0" marL="0">
              <a:lnSpc>
                <a:spcPts val="4600"/>
              </a:lnSpc>
              <a:buNone/>
            </a:pPr>
            <a:r>
              <a:rPr lang="en-US" sz="2600" dirty="0">
                <a:solidFill>
                  <a:srgbClr val="FF5D6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自分が欲しい一つに絞り込む</a:t>
            </a:r>
            <a:pPr indent="0" marL="0">
              <a:lnSpc>
                <a:spcPts val="46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こと。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280160" y="3712464"/>
            <a:ext cx="9631375" cy="10973"/>
          </a:xfrm>
          <a:prstGeom prst="rect">
            <a:avLst/>
          </a:prstGeom>
          <a:solidFill>
            <a:srgbClr val="3A548A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3886200"/>
            <a:ext cx="9631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3CEE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── これを「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プロンプトエンジニアリング</a:t>
            </a:r>
            <a:pPr indent="0" marL="0">
              <a:buNone/>
            </a:pPr>
            <a:r>
              <a:rPr lang="en-US" sz="1500" dirty="0">
                <a:solidFill>
                  <a:srgbClr val="C3CEE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」と呼びます。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3232" y="4709160"/>
            <a:ext cx="1076523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450" dirty="0">
                <a:solidFill>
                  <a:srgbClr val="C3CEE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「呪文」を覚える必要はありません。</a:t>
            </a:r>
            <a:endParaRPr lang="en-US" sz="145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1450" dirty="0">
                <a:solidFill>
                  <a:srgbClr val="C3CEE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検索サイトで条件を選ぶのと、やっていることは</a:t>
            </a:r>
            <a:endParaRPr lang="en-US" sz="145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同じ</a:t>
            </a:r>
            <a:pPr algn="ctr" indent="0" marL="0">
              <a:lnSpc>
                <a:spcPts val="2800"/>
              </a:lnSpc>
              <a:buNone/>
            </a:pPr>
            <a:r>
              <a:rPr lang="en-US" sz="1450" dirty="0">
                <a:solidFill>
                  <a:srgbClr val="C3CEE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です。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38383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AB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" y="3840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3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2194560" y="516636"/>
            <a:ext cx="237744" cy="18288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5" name="Text 3"/>
          <p:cNvSpPr/>
          <p:nvPr/>
        </p:nvSpPr>
        <p:spPr>
          <a:xfrm>
            <a:off x="2560320" y="3840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プロンプトの4つの要素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" y="1051560"/>
            <a:ext cx="10765231" cy="810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544"/>
              </a:lnSpc>
              <a:buNone/>
            </a:pPr>
            <a:r>
              <a:rPr lang="en-US" sz="3200" dirty="0">
                <a:solidFill>
                  <a:srgbClr val="1A1A2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絞り込みに必要なのは、4つだけ。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13232" y="2148840"/>
            <a:ext cx="10765231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rgbClr val="E8E6E0"/>
            </a:solidFill>
            <a:prstDash val="solid"/>
          </a:ln>
          <a:effectLst>
            <a:outerShdw sx="100000" sy="100000" kx="0" ky="0" algn="bl" rotWithShape="0" blurRad="177800" dist="25400" dir="5400000">
              <a:srgbClr val="1A1A2E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69264" y="2295144"/>
            <a:ext cx="365760" cy="365760"/>
          </a:xfrm>
          <a:prstGeom prst="ellipse">
            <a:avLst/>
          </a:prstGeom>
          <a:solidFill>
            <a:srgbClr val="2E5496"/>
          </a:solidFill>
          <a:ln/>
        </p:spPr>
      </p:sp>
      <p:sp>
        <p:nvSpPr>
          <p:cNvPr id="9" name="Text 7"/>
          <p:cNvSpPr/>
          <p:nvPr/>
        </p:nvSpPr>
        <p:spPr>
          <a:xfrm>
            <a:off x="969264" y="2295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17904" y="22311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① 指示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17904" y="2514600"/>
            <a:ext cx="96679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何をしてほしいのか（動詞で言い切る）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3232" y="2926080"/>
            <a:ext cx="10765231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rgbClr val="E8E6E0"/>
            </a:solidFill>
            <a:prstDash val="solid"/>
          </a:ln>
          <a:effectLst>
            <a:outerShdw sx="100000" sy="100000" kx="0" ky="0" algn="bl" rotWithShape="0" blurRad="177800" dist="25400" dir="5400000">
              <a:srgbClr val="1A1A2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69264" y="3072384"/>
            <a:ext cx="365760" cy="365760"/>
          </a:xfrm>
          <a:prstGeom prst="ellipse">
            <a:avLst/>
          </a:prstGeom>
          <a:solidFill>
            <a:srgbClr val="2E5496"/>
          </a:solidFill>
          <a:ln/>
        </p:spPr>
      </p:sp>
      <p:sp>
        <p:nvSpPr>
          <p:cNvPr id="14" name="Text 12"/>
          <p:cNvSpPr/>
          <p:nvPr/>
        </p:nvSpPr>
        <p:spPr>
          <a:xfrm>
            <a:off x="969264" y="3072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17904" y="300837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② 目的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17904" y="3291840"/>
            <a:ext cx="96679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何のために使うのか・誰が読むのか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13232" y="3703320"/>
            <a:ext cx="10765231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rgbClr val="E8E6E0"/>
            </a:solidFill>
            <a:prstDash val="solid"/>
          </a:ln>
          <a:effectLst>
            <a:outerShdw sx="100000" sy="100000" kx="0" ky="0" algn="bl" rotWithShape="0" blurRad="177800" dist="25400" dir="5400000">
              <a:srgbClr val="1A1A2E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69264" y="3849624"/>
            <a:ext cx="365760" cy="365760"/>
          </a:xfrm>
          <a:prstGeom prst="ellipse">
            <a:avLst/>
          </a:prstGeom>
          <a:solidFill>
            <a:srgbClr val="2E5496"/>
          </a:solidFill>
          <a:ln/>
        </p:spPr>
      </p:sp>
      <p:sp>
        <p:nvSpPr>
          <p:cNvPr id="19" name="Text 17"/>
          <p:cNvSpPr/>
          <p:nvPr/>
        </p:nvSpPr>
        <p:spPr>
          <a:xfrm>
            <a:off x="969264" y="3849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517904" y="378561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③ 細かな条件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17904" y="4069080"/>
            <a:ext cx="96679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分量・形式・トーン・やってほしくないこと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13232" y="4480560"/>
            <a:ext cx="10765231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rgbClr val="E8E6E0"/>
            </a:solidFill>
            <a:prstDash val="solid"/>
          </a:ln>
          <a:effectLst>
            <a:outerShdw sx="100000" sy="100000" kx="0" ky="0" algn="bl" rotWithShape="0" blurRad="177800" dist="25400" dir="5400000">
              <a:srgbClr val="1A1A2E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69264" y="4626864"/>
            <a:ext cx="365760" cy="365760"/>
          </a:xfrm>
          <a:prstGeom prst="ellipse">
            <a:avLst/>
          </a:prstGeom>
          <a:solidFill>
            <a:srgbClr val="2E5496"/>
          </a:solidFill>
          <a:ln/>
        </p:spPr>
      </p:sp>
      <p:sp>
        <p:nvSpPr>
          <p:cNvPr id="24" name="Text 22"/>
          <p:cNvSpPr/>
          <p:nvPr/>
        </p:nvSpPr>
        <p:spPr>
          <a:xfrm>
            <a:off x="969264" y="4626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517904" y="456285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④ 参照データ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517904" y="4846320"/>
            <a:ext cx="96679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判断の材料になる、実物の情報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" y="5486400"/>
            <a:ext cx="107652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この4つが揃うほど、答えは絞り込まれていきます。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38383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" y="3840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8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3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2194560" y="516636"/>
            <a:ext cx="237744" cy="18288"/>
          </a:xfrm>
          <a:prstGeom prst="rect">
            <a:avLst/>
          </a:prstGeom>
          <a:solidFill>
            <a:srgbClr val="D8E4F0"/>
          </a:solidFill>
          <a:ln/>
        </p:spPr>
      </p:sp>
      <p:sp>
        <p:nvSpPr>
          <p:cNvPr id="5" name="Text 3"/>
          <p:cNvSpPr/>
          <p:nvPr/>
        </p:nvSpPr>
        <p:spPr>
          <a:xfrm>
            <a:off x="2560320" y="3840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CB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① 指示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" y="1051560"/>
            <a:ext cx="10765231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6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「何をしてほしいのか」を、動詞で言い切る。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13232" y="2011680"/>
            <a:ext cx="1076523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C3CEE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いちばん多い失敗は、話題だけ投げて動詞がないこと。</a:t>
            </a:r>
            <a:endParaRPr lang="en-US" sz="15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C3CEE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「〜について」ではなく、「〜して」と書きます。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13232" y="3200400"/>
            <a:ext cx="5108296" cy="1965960"/>
          </a:xfrm>
          <a:prstGeom prst="roundRect">
            <a:avLst>
              <a:gd name="adj" fmla="val 3256"/>
            </a:avLst>
          </a:prstGeom>
          <a:solidFill>
            <a:srgbClr val="402A3E"/>
          </a:solidFill>
          <a:ln w="15875">
            <a:solidFill>
              <a:srgbClr val="FF5D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474720"/>
            <a:ext cx="434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5D6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話題だけ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97280" y="3858768"/>
            <a:ext cx="434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「新人研修について」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97280" y="4434840"/>
            <a:ext cx="434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D0C2C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説明？ 企画？ 要約？ AIは推測するしかありません。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70168" y="3200400"/>
            <a:ext cx="5108296" cy="1965960"/>
          </a:xfrm>
          <a:prstGeom prst="roundRect">
            <a:avLst>
              <a:gd name="adj" fmla="val 3256"/>
            </a:avLst>
          </a:prstGeom>
          <a:solidFill>
            <a:srgbClr val="2A4270"/>
          </a:solidFill>
          <a:ln w="15875">
            <a:solidFill>
              <a:srgbClr val="D8E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54216" y="3474720"/>
            <a:ext cx="434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8E4F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動詞で言い切る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754216" y="3858768"/>
            <a:ext cx="434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「新人研修の案を3つ出して」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754216" y="4434840"/>
            <a:ext cx="434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BFCAD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出す・まとめる・比べる・直す・分類する。動詞が決まれば形が決まります。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38383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AB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" y="3840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3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2194560" y="516636"/>
            <a:ext cx="237744" cy="18288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5" name="Text 3"/>
          <p:cNvSpPr/>
          <p:nvPr/>
        </p:nvSpPr>
        <p:spPr>
          <a:xfrm>
            <a:off x="2560320" y="3840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② 目的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" y="1051560"/>
            <a:ext cx="10765231" cy="810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544"/>
              </a:lnSpc>
              <a:buNone/>
            </a:pPr>
            <a:r>
              <a:rPr lang="en-US" sz="3200" dirty="0">
                <a:solidFill>
                  <a:srgbClr val="1A1A2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「何のために使うのか」を伝える。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13232" y="2011680"/>
            <a:ext cx="1076523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目的が分かると、AIは中身の優先順位を変えてくれます。</a:t>
            </a:r>
            <a:endParaRPr lang="en-US" sz="15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同じ「要約して」でも、使い道が違えば残すべき情報が違うからです。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13232" y="3200400"/>
            <a:ext cx="340553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8E6E0"/>
            </a:solidFill>
            <a:prstDash val="solid"/>
          </a:ln>
          <a:effectLst>
            <a:outerShdw sx="100000" sy="100000" kx="0" ky="0" algn="bl" rotWithShape="0" blurRad="177800" dist="25400" dir="5400000">
              <a:srgbClr val="1A1A2E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87552" y="3493008"/>
            <a:ext cx="285689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部長への報告用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4078224"/>
            <a:ext cx="285689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結論と数字が先。判断に必要な材料だけを残す。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93082" y="3200400"/>
            <a:ext cx="340553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8E6E0"/>
            </a:solidFill>
            <a:prstDash val="solid"/>
          </a:ln>
          <a:effectLst>
            <a:outerShdw sx="100000" sy="100000" kx="0" ky="0" algn="bl" rotWithShape="0" blurRad="177800" dist="25400" dir="5400000">
              <a:srgbClr val="1A1A2E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7402" y="3493008"/>
            <a:ext cx="285689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新人への説明用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7402" y="4078224"/>
            <a:ext cx="285689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前提から順に。専門用語をかみくだく。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72933" y="3200400"/>
            <a:ext cx="340553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8E6E0"/>
            </a:solidFill>
            <a:prstDash val="solid"/>
          </a:ln>
          <a:effectLst>
            <a:outerShdw sx="100000" sy="100000" kx="0" ky="0" algn="bl" rotWithShape="0" blurRad="177800" dist="25400" dir="5400000">
              <a:srgbClr val="1A1A2E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47253" y="3493008"/>
            <a:ext cx="285689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自分の下書き用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47253" y="4078224"/>
            <a:ext cx="285689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粗くていい。抜けがないことを優先する。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3232" y="5257800"/>
            <a:ext cx="107652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「これは何に使うのか」の一文が、答えの形を決めます。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38383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" y="3840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8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3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2194560" y="516636"/>
            <a:ext cx="237744" cy="18288"/>
          </a:xfrm>
          <a:prstGeom prst="rect">
            <a:avLst/>
          </a:prstGeom>
          <a:solidFill>
            <a:srgbClr val="D8E4F0"/>
          </a:solidFill>
          <a:ln/>
        </p:spPr>
      </p:sp>
      <p:sp>
        <p:nvSpPr>
          <p:cNvPr id="5" name="Text 3"/>
          <p:cNvSpPr/>
          <p:nvPr/>
        </p:nvSpPr>
        <p:spPr>
          <a:xfrm>
            <a:off x="2560320" y="3840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CB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③ 細かな条件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" y="1051560"/>
            <a:ext cx="10765231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6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分量・形式・トーン。決めないと、勝手に決まる。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13232" y="2011680"/>
            <a:ext cx="1076523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C3CEE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検索サイトの絞り込みと同じです。指定しなければ、AIが標準の値を使います。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13232" y="3063240"/>
            <a:ext cx="2567864" cy="1691640"/>
          </a:xfrm>
          <a:prstGeom prst="roundRect">
            <a:avLst>
              <a:gd name="adj" fmla="val 3243"/>
            </a:avLst>
          </a:prstGeom>
          <a:solidFill>
            <a:srgbClr val="2A4270"/>
          </a:solidFill>
          <a:ln w="9525">
            <a:solidFill>
              <a:srgbClr val="3A54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355848"/>
            <a:ext cx="20192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分量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3941064"/>
            <a:ext cx="201922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BFCAD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3つ／400字以内／A4で1枚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45688" y="3063240"/>
            <a:ext cx="2567864" cy="1691640"/>
          </a:xfrm>
          <a:prstGeom prst="roundRect">
            <a:avLst>
              <a:gd name="adj" fmla="val 3243"/>
            </a:avLst>
          </a:prstGeom>
          <a:solidFill>
            <a:srgbClr val="2A4270"/>
          </a:solidFill>
          <a:ln w="9525">
            <a:solidFill>
              <a:srgbClr val="3A54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20008" y="3355848"/>
            <a:ext cx="20192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形式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20008" y="3941064"/>
            <a:ext cx="201922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BFCAD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箇条書き／表／メール文面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8144" y="3063240"/>
            <a:ext cx="2567864" cy="1691640"/>
          </a:xfrm>
          <a:prstGeom prst="roundRect">
            <a:avLst>
              <a:gd name="adj" fmla="val 3243"/>
            </a:avLst>
          </a:prstGeom>
          <a:solidFill>
            <a:srgbClr val="2A4270"/>
          </a:solidFill>
          <a:ln w="9525">
            <a:solidFill>
              <a:srgbClr val="3A54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2464" y="3355848"/>
            <a:ext cx="20192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トーン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2464" y="3941064"/>
            <a:ext cx="201922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BFCAD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丁寧に／簡潔に／専門用語なしで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10599" y="3063240"/>
            <a:ext cx="2567864" cy="1691640"/>
          </a:xfrm>
          <a:prstGeom prst="roundRect">
            <a:avLst>
              <a:gd name="adj" fmla="val 3243"/>
            </a:avLst>
          </a:prstGeom>
          <a:solidFill>
            <a:srgbClr val="2A4270"/>
          </a:solidFill>
          <a:ln w="9525">
            <a:solidFill>
              <a:srgbClr val="3A54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84919" y="3355848"/>
            <a:ext cx="20192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やらないこと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84919" y="3941064"/>
            <a:ext cx="201922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BFCAD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推測で数字を入れない／絵文字は使わない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3232" y="5029200"/>
            <a:ext cx="107652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C3CEE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特に効くのが</a:t>
            </a:r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「やってほしくないこと」</a:t>
            </a:r>
            <a:pPr algn="ctr" indent="0" marL="0">
              <a:buNone/>
            </a:pPr>
            <a:r>
              <a:rPr lang="en-US" sz="1450" dirty="0">
                <a:solidFill>
                  <a:srgbClr val="C3CEE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。これを書ける人は、かなり上手です。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38383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AB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" y="3840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3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2194560" y="516636"/>
            <a:ext cx="237744" cy="18288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5" name="Text 3"/>
          <p:cNvSpPr/>
          <p:nvPr/>
        </p:nvSpPr>
        <p:spPr>
          <a:xfrm>
            <a:off x="2560320" y="3840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④ 参照データ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" y="1051560"/>
            <a:ext cx="10765231" cy="810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544"/>
              </a:lnSpc>
              <a:buNone/>
            </a:pPr>
            <a:r>
              <a:rPr lang="en-US" sz="3200" dirty="0">
                <a:solidFill>
                  <a:srgbClr val="1A1A2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手ぶらのAIに、良い答えは出せない。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13232" y="1965960"/>
            <a:ext cx="1076523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ここがいちばん差がつきます。AIは、渡されていない情報を知りません。</a:t>
            </a:r>
            <a:endParaRPr lang="en-US" sz="15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社内の実物を渡すだけで、答えは一般論から自社の話に変わります。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13232" y="3154680"/>
            <a:ext cx="340553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8E6E0"/>
            </a:solidFill>
            <a:prstDash val="solid"/>
          </a:ln>
          <a:effectLst>
            <a:outerShdw sx="100000" sy="100000" kx="0" ky="0" algn="bl" rotWithShape="0" blurRad="177800" dist="25400" dir="5400000">
              <a:srgbClr val="1A1A2E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87552" y="3447288"/>
            <a:ext cx="285689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実際のデータ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4032504"/>
            <a:ext cx="285689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アンケートの自由記述、応対ログ、問い合わせ一覧。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93082" y="3154680"/>
            <a:ext cx="340553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8E6E0"/>
            </a:solidFill>
            <a:prstDash val="solid"/>
          </a:ln>
          <a:effectLst>
            <a:outerShdw sx="100000" sy="100000" kx="0" ky="0" algn="bl" rotWithShape="0" blurRad="177800" dist="25400" dir="5400000">
              <a:srgbClr val="1A1A2E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7402" y="3447288"/>
            <a:ext cx="285689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お手本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7402" y="4032504"/>
            <a:ext cx="285689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前回の資料、良かった回答例。「これに似せて」と言える。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72933" y="3154680"/>
            <a:ext cx="340553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8E6E0"/>
            </a:solidFill>
            <a:prstDash val="solid"/>
          </a:ln>
          <a:effectLst>
            <a:outerShdw sx="100000" sy="100000" kx="0" ky="0" algn="bl" rotWithShape="0" blurRad="177800" dist="25400" dir="5400000">
              <a:srgbClr val="1A1A2E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47253" y="3447288"/>
            <a:ext cx="285689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社内のルール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47253" y="4032504"/>
            <a:ext cx="285689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対応方針、NG表現、クライアント固有の決まりごと。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3232" y="5212080"/>
            <a:ext cx="107652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「調べれば分かること」しか返ってこないのは、渡した情報が「調べれば分かること」だけだからです。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38383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" y="3840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8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3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2194560" y="516636"/>
            <a:ext cx="237744" cy="18288"/>
          </a:xfrm>
          <a:prstGeom prst="rect">
            <a:avLst/>
          </a:prstGeom>
          <a:solidFill>
            <a:srgbClr val="D8E4F0"/>
          </a:solidFill>
          <a:ln/>
        </p:spPr>
      </p:sp>
      <p:sp>
        <p:nvSpPr>
          <p:cNvPr id="5" name="Text 3"/>
          <p:cNvSpPr/>
          <p:nvPr/>
        </p:nvSpPr>
        <p:spPr>
          <a:xfrm>
            <a:off x="2560320" y="3840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CB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4つを全部入れると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" y="1051560"/>
            <a:ext cx="10765231" cy="810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544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4つを入れると、こう変わります。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13232" y="2194560"/>
            <a:ext cx="5062576" cy="1371600"/>
          </a:xfrm>
          <a:prstGeom prst="roundRect">
            <a:avLst>
              <a:gd name="adj" fmla="val 4000"/>
            </a:avLst>
          </a:prstGeom>
          <a:solidFill>
            <a:srgbClr val="402A3E"/>
          </a:solidFill>
          <a:ln w="15875">
            <a:solidFill>
              <a:srgbClr val="FF5D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2450592"/>
            <a:ext cx="1463040" cy="292608"/>
          </a:xfrm>
          <a:prstGeom prst="roundRect">
            <a:avLst>
              <a:gd name="adj" fmla="val 12500"/>
            </a:avLst>
          </a:prstGeom>
          <a:solidFill>
            <a:srgbClr val="5C314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450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5D6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BEFORE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05840" y="2907792"/>
            <a:ext cx="447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E4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アンケート結果をまとめて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3232" y="3703320"/>
            <a:ext cx="506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D0C2C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 一般論の要約が返ってくる。結局、自分で書き直すことになる。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15888" y="2194560"/>
            <a:ext cx="5062576" cy="2331720"/>
          </a:xfrm>
          <a:prstGeom prst="roundRect">
            <a:avLst>
              <a:gd name="adj" fmla="val 2353"/>
            </a:avLst>
          </a:prstGeom>
          <a:solidFill>
            <a:srgbClr val="141D35"/>
          </a:solidFill>
          <a:ln w="15875">
            <a:solidFill>
              <a:srgbClr val="D8E4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8496" y="2450592"/>
            <a:ext cx="1463040" cy="292608"/>
          </a:xfrm>
          <a:prstGeom prst="roundRect">
            <a:avLst>
              <a:gd name="adj" fmla="val 12500"/>
            </a:avLst>
          </a:prstGeom>
          <a:solidFill>
            <a:srgbClr val="3A54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08496" y="2450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AFTER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708496" y="2880360"/>
            <a:ext cx="4477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200" b="1" dirty="0">
                <a:solidFill>
                  <a:srgbClr val="FF5D6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【指示】</a:t>
            </a:r>
            <a:pPr indent="0" marL="0">
              <a:lnSpc>
                <a:spcPts val="2300"/>
              </a:lnSpc>
              <a:buNone/>
            </a:pPr>
            <a:r>
              <a:rPr lang="en-US" sz="1200" dirty="0">
                <a:solidFill>
                  <a:srgbClr val="E4EBF5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添付のアンケート自由記述200件を分類して
</a:t>
            </a:r>
            <a:pPr indent="0" marL="0">
              <a:lnSpc>
                <a:spcPts val="2300"/>
              </a:lnSpc>
              <a:buNone/>
            </a:pPr>
            <a:r>
              <a:rPr lang="en-US" sz="1200" b="1" dirty="0">
                <a:solidFill>
                  <a:srgbClr val="FF5D6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【目的】</a:t>
            </a:r>
            <a:pPr indent="0" marL="0">
              <a:lnSpc>
                <a:spcPts val="2300"/>
              </a:lnSpc>
              <a:buNone/>
            </a:pPr>
            <a:r>
              <a:rPr lang="en-US" sz="1200" dirty="0">
                <a:solidFill>
                  <a:srgbClr val="E4EBF5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来月の改善提案の材料にする（部長へ報告）
</a:t>
            </a:r>
            <a:pPr indent="0" marL="0">
              <a:lnSpc>
                <a:spcPts val="2300"/>
              </a:lnSpc>
              <a:buNone/>
            </a:pPr>
            <a:r>
              <a:rPr lang="en-US" sz="1200" b="1" dirty="0">
                <a:solidFill>
                  <a:srgbClr val="FF5D6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【条件】</a:t>
            </a:r>
            <a:pPr indent="0" marL="0">
              <a:lnSpc>
                <a:spcPts val="2300"/>
              </a:lnSpc>
              <a:buNone/>
            </a:pPr>
            <a:r>
              <a:rPr lang="en-US" sz="1200" dirty="0">
                <a:solidFill>
                  <a:srgbClr val="E4EBF5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5分類以内／件数の多い順／各分類に代表の声を1つ
</a:t>
            </a:r>
            <a:pPr indent="0" marL="0">
              <a:lnSpc>
                <a:spcPts val="2300"/>
              </a:lnSpc>
              <a:buNone/>
            </a:pPr>
            <a:r>
              <a:rPr lang="en-US" sz="1200" b="1" dirty="0">
                <a:solidFill>
                  <a:srgbClr val="FF5D6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【参照】</a:t>
            </a:r>
            <a:pPr indent="0" marL="0">
              <a:lnSpc>
                <a:spcPts val="2300"/>
              </a:lnSpc>
              <a:buNone/>
            </a:pPr>
            <a:r>
              <a:rPr lang="en-US" sz="1200" dirty="0">
                <a:solidFill>
                  <a:srgbClr val="E4EBF5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添付ファイル、前回の分類軸（別紙）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15888" y="4663440"/>
            <a:ext cx="506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 そのまま提案書に貼れる状態で返ってくる。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13232" y="5394960"/>
            <a:ext cx="107652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書く量は増えます。でも、書き直す時間はゼロになります。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38383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AB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" y="3840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4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2194560" y="516636"/>
            <a:ext cx="237744" cy="18288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5" name="Text 3"/>
          <p:cNvSpPr/>
          <p:nvPr/>
        </p:nvSpPr>
        <p:spPr>
          <a:xfrm>
            <a:off x="2560320" y="3840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プロンプトだけでは、続かない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169164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40" kern="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2240280"/>
            <a:ext cx="1076523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4000" dirty="0">
                <a:solidFill>
                  <a:srgbClr val="1A1A2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これを、毎回書けますか？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5949544" y="3566160"/>
            <a:ext cx="292608" cy="457200"/>
          </a:xfrm>
          <a:prstGeom prst="downArrow">
            <a:avLst/>
          </a:prstGeom>
          <a:solidFill>
            <a:srgbClr val="2E5496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4251960"/>
            <a:ext cx="1076523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6B7A99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正直に言えば、</a:t>
            </a:r>
            <a:pPr algn="ctr" indent="0" marL="0">
              <a:buNone/>
            </a:pPr>
            <a:r>
              <a:rPr lang="en-US" sz="3600" dirty="0">
                <a:solidFill>
                  <a:srgbClr val="E23744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無理です。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13232" y="5257800"/>
            <a:ext cx="107652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1日に何十回もAIを使う中で、毎回この4つを打ち込み続けられる人はいません。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38383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" y="3840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8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4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2194560" y="516636"/>
            <a:ext cx="237744" cy="18288"/>
          </a:xfrm>
          <a:prstGeom prst="rect">
            <a:avLst/>
          </a:prstGeom>
          <a:solidFill>
            <a:srgbClr val="D8E4F0"/>
          </a:solidFill>
          <a:ln/>
        </p:spPr>
      </p:sp>
      <p:sp>
        <p:nvSpPr>
          <p:cNvPr id="5" name="Text 3"/>
          <p:cNvSpPr/>
          <p:nvPr/>
        </p:nvSpPr>
        <p:spPr>
          <a:xfrm>
            <a:off x="2560320" y="3840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CB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プロンプトだけでは、続かない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" y="1051560"/>
            <a:ext cx="10765231" cy="810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544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プロンプトには、3つの限界があります。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13232" y="2468880"/>
            <a:ext cx="3405530" cy="2057400"/>
          </a:xfrm>
          <a:prstGeom prst="roundRect">
            <a:avLst>
              <a:gd name="adj" fmla="val 2667"/>
            </a:avLst>
          </a:prstGeom>
          <a:solidFill>
            <a:srgbClr val="2A4270"/>
          </a:solidFill>
          <a:ln w="9525">
            <a:solidFill>
              <a:srgbClr val="3A54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552" y="2743200"/>
            <a:ext cx="384048" cy="384048"/>
          </a:xfrm>
          <a:prstGeom prst="ellipse">
            <a:avLst/>
          </a:prstGeom>
          <a:solidFill>
            <a:srgbClr val="D8E4F0"/>
          </a:solidFill>
          <a:ln/>
        </p:spPr>
      </p:sp>
      <p:sp>
        <p:nvSpPr>
          <p:cNvPr id="9" name="Text 7"/>
          <p:cNvSpPr/>
          <p:nvPr/>
        </p:nvSpPr>
        <p:spPr>
          <a:xfrm>
            <a:off x="987552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87552" y="3310128"/>
            <a:ext cx="285689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毎回、書き直している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87552" y="3895344"/>
            <a:ext cx="285689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BFCAD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同じ前提を、毎日、何度も打ち込んでいる。単純に時間の無駄です。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93082" y="2468880"/>
            <a:ext cx="3405530" cy="2057400"/>
          </a:xfrm>
          <a:prstGeom prst="roundRect">
            <a:avLst>
              <a:gd name="adj" fmla="val 2667"/>
            </a:avLst>
          </a:prstGeom>
          <a:solidFill>
            <a:srgbClr val="2A4270"/>
          </a:solidFill>
          <a:ln w="9525">
            <a:solidFill>
              <a:srgbClr val="3A54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7402" y="2743200"/>
            <a:ext cx="384048" cy="384048"/>
          </a:xfrm>
          <a:prstGeom prst="ellipse">
            <a:avLst/>
          </a:prstGeom>
          <a:solidFill>
            <a:srgbClr val="D8E4F0"/>
          </a:solidFill>
          <a:ln/>
        </p:spPr>
      </p:sp>
      <p:sp>
        <p:nvSpPr>
          <p:cNvPr id="14" name="Text 12"/>
          <p:cNvSpPr/>
          <p:nvPr/>
        </p:nvSpPr>
        <p:spPr>
          <a:xfrm>
            <a:off x="4667402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7402" y="3310128"/>
            <a:ext cx="285689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その人の中に残る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67402" y="3895344"/>
            <a:ext cx="285689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BFCAD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うまく書けた人の工夫は、チャット履歴の中に消えていきます。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72933" y="2468880"/>
            <a:ext cx="3405530" cy="2057400"/>
          </a:xfrm>
          <a:prstGeom prst="roundRect">
            <a:avLst>
              <a:gd name="adj" fmla="val 2667"/>
            </a:avLst>
          </a:prstGeom>
          <a:solidFill>
            <a:srgbClr val="2A4270"/>
          </a:solidFill>
          <a:ln w="9525">
            <a:solidFill>
              <a:srgbClr val="3A54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47253" y="2743200"/>
            <a:ext cx="384048" cy="384048"/>
          </a:xfrm>
          <a:prstGeom prst="ellipse">
            <a:avLst/>
          </a:prstGeom>
          <a:solidFill>
            <a:srgbClr val="D8E4F0"/>
          </a:solidFill>
          <a:ln/>
        </p:spPr>
      </p:sp>
      <p:sp>
        <p:nvSpPr>
          <p:cNvPr id="19" name="Text 17"/>
          <p:cNvSpPr/>
          <p:nvPr/>
        </p:nvSpPr>
        <p:spPr>
          <a:xfrm>
            <a:off x="8347253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47253" y="3310128"/>
            <a:ext cx="285689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貼れる量に限りがある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47253" y="3895344"/>
            <a:ext cx="285689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BFCAD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マニュアル全部・過去ログ全件を、毎回貼ることはできません。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13232" y="4846320"/>
            <a:ext cx="10765231" cy="868680"/>
          </a:xfrm>
          <a:prstGeom prst="roundRect">
            <a:avLst>
              <a:gd name="adj" fmla="val 6316"/>
            </a:avLst>
          </a:prstGeom>
          <a:solidFill>
            <a:srgbClr val="402A3E"/>
          </a:solidFill>
          <a:ln w="12700">
            <a:solidFill>
              <a:srgbClr val="FF5D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4846320"/>
            <a:ext cx="1003371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D0C2C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つまり ── </a:t>
            </a:r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うまい聞き方は、個人の技のままでは組織に残らない。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38383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AB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" y="3840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4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2194560" y="516636"/>
            <a:ext cx="237744" cy="18288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5" name="Text 3"/>
          <p:cNvSpPr/>
          <p:nvPr/>
        </p:nvSpPr>
        <p:spPr>
          <a:xfrm>
            <a:off x="2560320" y="3840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プロンプトだけでは、続かない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" y="1051560"/>
            <a:ext cx="10765231" cy="810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544"/>
              </a:lnSpc>
              <a:buNone/>
            </a:pPr>
            <a:r>
              <a:rPr lang="en-US" sz="3200" dirty="0">
                <a:solidFill>
                  <a:srgbClr val="1A1A2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よく見ると、毎回同じことを書いています。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13232" y="2011680"/>
            <a:ext cx="1076523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4つの要素のうち、毎回変わるのは実は一部だけ。残りは「いつも同じ」です。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13232" y="2926080"/>
            <a:ext cx="10765231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8E6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2926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① 指示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47872" y="2926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3744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毎回ちがう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748272" y="3044952"/>
            <a:ext cx="2286000" cy="310896"/>
          </a:xfrm>
          <a:prstGeom prst="roundRect">
            <a:avLst>
              <a:gd name="adj" fmla="val 11765"/>
            </a:avLst>
          </a:prstGeom>
          <a:solidFill>
            <a:srgbClr val="FBDDE0"/>
          </a:solidFill>
          <a:ln/>
        </p:spPr>
      </p:sp>
      <p:sp>
        <p:nvSpPr>
          <p:cNvPr id="12" name="Text 10"/>
          <p:cNvSpPr/>
          <p:nvPr/>
        </p:nvSpPr>
        <p:spPr>
          <a:xfrm>
            <a:off x="6748272" y="30449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3744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毎回書くしかない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3232" y="3584448"/>
            <a:ext cx="10765231" cy="548640"/>
          </a:xfrm>
          <a:prstGeom prst="roundRect">
            <a:avLst>
              <a:gd name="adj" fmla="val 8333"/>
            </a:avLst>
          </a:prstGeom>
          <a:solidFill>
            <a:srgbClr val="E9EFF7"/>
          </a:solidFill>
          <a:ln w="9525">
            <a:solidFill>
              <a:srgbClr val="D8E4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33272" y="35844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② 目的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47872" y="358444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49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だいたい同じ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48272" y="3703320"/>
            <a:ext cx="2286000" cy="310896"/>
          </a:xfrm>
          <a:prstGeom prst="roundRect">
            <a:avLst>
              <a:gd name="adj" fmla="val 11765"/>
            </a:avLst>
          </a:prstGeom>
          <a:solidFill>
            <a:srgbClr val="2E5496"/>
          </a:solidFill>
          <a:ln/>
        </p:spPr>
      </p:sp>
      <p:sp>
        <p:nvSpPr>
          <p:cNvPr id="17" name="Text 15"/>
          <p:cNvSpPr/>
          <p:nvPr/>
        </p:nvSpPr>
        <p:spPr>
          <a:xfrm>
            <a:off x="6748272" y="37033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仕組みにできる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3232" y="4242816"/>
            <a:ext cx="10765231" cy="548640"/>
          </a:xfrm>
          <a:prstGeom prst="roundRect">
            <a:avLst>
              <a:gd name="adj" fmla="val 8333"/>
            </a:avLst>
          </a:prstGeom>
          <a:solidFill>
            <a:srgbClr val="E9EFF7"/>
          </a:solidFill>
          <a:ln w="9525">
            <a:solidFill>
              <a:srgbClr val="D8E4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" y="424281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③ 細かな条件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547872" y="424281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49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ほぼ毎回同じ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748272" y="4361688"/>
            <a:ext cx="2286000" cy="310896"/>
          </a:xfrm>
          <a:prstGeom prst="roundRect">
            <a:avLst>
              <a:gd name="adj" fmla="val 11765"/>
            </a:avLst>
          </a:prstGeom>
          <a:solidFill>
            <a:srgbClr val="2E5496"/>
          </a:solidFill>
          <a:ln/>
        </p:spPr>
      </p:sp>
      <p:sp>
        <p:nvSpPr>
          <p:cNvPr id="22" name="Text 20"/>
          <p:cNvSpPr/>
          <p:nvPr/>
        </p:nvSpPr>
        <p:spPr>
          <a:xfrm>
            <a:off x="6748272" y="436168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仕組みにできる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3232" y="4901184"/>
            <a:ext cx="10765231" cy="548640"/>
          </a:xfrm>
          <a:prstGeom prst="roundRect">
            <a:avLst>
              <a:gd name="adj" fmla="val 8333"/>
            </a:avLst>
          </a:prstGeom>
          <a:solidFill>
            <a:srgbClr val="E9EFF7"/>
          </a:solidFill>
          <a:ln w="9525">
            <a:solidFill>
              <a:srgbClr val="D8E4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33272" y="490118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④ 参照データ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547872" y="490118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49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置き場所は同じ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748272" y="5020056"/>
            <a:ext cx="2286000" cy="310896"/>
          </a:xfrm>
          <a:prstGeom prst="roundRect">
            <a:avLst>
              <a:gd name="adj" fmla="val 11765"/>
            </a:avLst>
          </a:prstGeom>
          <a:solidFill>
            <a:srgbClr val="2E5496"/>
          </a:solidFill>
          <a:ln/>
        </p:spPr>
      </p:sp>
      <p:sp>
        <p:nvSpPr>
          <p:cNvPr id="27" name="Text 25"/>
          <p:cNvSpPr/>
          <p:nvPr/>
        </p:nvSpPr>
        <p:spPr>
          <a:xfrm>
            <a:off x="6748272" y="502005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仕組みにできる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3232" y="5715000"/>
            <a:ext cx="107652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「いつも同じ」ものは、毎回書くのではなく、</a:t>
            </a:r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あらかじめ置いておけばいい。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38383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" y="3840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8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4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2194560" y="516636"/>
            <a:ext cx="237744" cy="18288"/>
          </a:xfrm>
          <a:prstGeom prst="rect">
            <a:avLst/>
          </a:prstGeom>
          <a:solidFill>
            <a:srgbClr val="D8E4F0"/>
          </a:solidFill>
          <a:ln/>
        </p:spPr>
      </p:sp>
      <p:sp>
        <p:nvSpPr>
          <p:cNvPr id="5" name="Text 3"/>
          <p:cNvSpPr/>
          <p:nvPr/>
        </p:nvSpPr>
        <p:spPr>
          <a:xfrm>
            <a:off x="2560320" y="3840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CB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プロンプトだけでは、続かない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" y="1051560"/>
            <a:ext cx="10765231" cy="810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544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毎回書くもの／置いておくもの。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13232" y="2286000"/>
            <a:ext cx="4993996" cy="2651760"/>
          </a:xfrm>
          <a:prstGeom prst="roundRect">
            <a:avLst>
              <a:gd name="adj" fmla="val 2414"/>
            </a:avLst>
          </a:prstGeom>
          <a:solidFill>
            <a:srgbClr val="2A4270"/>
          </a:solidFill>
          <a:ln w="15875">
            <a:solidFill>
              <a:srgbClr val="3A54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8992" y="2615184"/>
            <a:ext cx="2194560" cy="310896"/>
          </a:xfrm>
          <a:prstGeom prst="roundRect">
            <a:avLst>
              <a:gd name="adj" fmla="val 11765"/>
            </a:avLst>
          </a:prstGeom>
          <a:solidFill>
            <a:srgbClr val="3A548A"/>
          </a:solidFill>
          <a:ln/>
        </p:spPr>
      </p:sp>
      <p:sp>
        <p:nvSpPr>
          <p:cNvPr id="9" name="Text 7"/>
          <p:cNvSpPr/>
          <p:nvPr/>
        </p:nvSpPr>
        <p:spPr>
          <a:xfrm>
            <a:off x="1078992" y="261518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プロンプトエンジニアリング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78992" y="3127248"/>
            <a:ext cx="4262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その場で、絞り込む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78992" y="3749040"/>
            <a:ext cx="42624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350" dirty="0">
                <a:solidFill>
                  <a:srgbClr val="BFCAD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今回だけの指示。今日の相手。この1件の事情。</a:t>
            </a:r>
            <a:endParaRPr lang="en-US" sz="1350" dirty="0"/>
          </a:p>
          <a:p>
            <a:pPr indent="0" marL="0">
              <a:lnSpc>
                <a:spcPts val="2500"/>
              </a:lnSpc>
              <a:buNone/>
            </a:pPr>
            <a:endParaRPr lang="en-US" sz="135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350" dirty="0">
                <a:solidFill>
                  <a:srgbClr val="BFCAD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これは毎回、自分の手で書くしかありません。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807812" y="3319272"/>
            <a:ext cx="576072" cy="576072"/>
          </a:xfrm>
          <a:prstGeom prst="ellipse">
            <a:avLst/>
          </a:prstGeom>
          <a:solidFill>
            <a:srgbClr val="3A548A"/>
          </a:solidFill>
          <a:ln/>
        </p:spPr>
      </p:sp>
      <p:sp>
        <p:nvSpPr>
          <p:cNvPr id="13" name="Text 11"/>
          <p:cNvSpPr/>
          <p:nvPr/>
        </p:nvSpPr>
        <p:spPr>
          <a:xfrm>
            <a:off x="5807812" y="3319272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84468" y="2286000"/>
            <a:ext cx="4993996" cy="2651760"/>
          </a:xfrm>
          <a:prstGeom prst="roundRect">
            <a:avLst>
              <a:gd name="adj" fmla="val 2414"/>
            </a:avLst>
          </a:prstGeom>
          <a:solidFill>
            <a:srgbClr val="141D35"/>
          </a:solidFill>
          <a:ln w="15875">
            <a:solidFill>
              <a:srgbClr val="D8E4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0228" y="2615184"/>
            <a:ext cx="2194560" cy="310896"/>
          </a:xfrm>
          <a:prstGeom prst="roundRect">
            <a:avLst>
              <a:gd name="adj" fmla="val 11765"/>
            </a:avLst>
          </a:prstGeom>
          <a:solidFill>
            <a:srgbClr val="2E5496"/>
          </a:solidFill>
          <a:ln/>
        </p:spPr>
      </p:sp>
      <p:sp>
        <p:nvSpPr>
          <p:cNvPr id="16" name="Text 14"/>
          <p:cNvSpPr/>
          <p:nvPr/>
        </p:nvSpPr>
        <p:spPr>
          <a:xfrm>
            <a:off x="6850228" y="261518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コンテキストエンジニアリング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0228" y="3127248"/>
            <a:ext cx="4262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あらかじめ、置いておく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850228" y="3749040"/>
            <a:ext cx="42624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350" dirty="0">
                <a:solidFill>
                  <a:srgbClr val="BFCAD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所属・役割・トーン・社内ルール・参照する資料。</a:t>
            </a:r>
            <a:endParaRPr lang="en-US" sz="1350" dirty="0"/>
          </a:p>
          <a:p>
            <a:pPr indent="0" marL="0">
              <a:lnSpc>
                <a:spcPts val="2500"/>
              </a:lnSpc>
              <a:buNone/>
            </a:pPr>
            <a:endParaRPr lang="en-US" sz="135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350" dirty="0">
                <a:solidFill>
                  <a:srgbClr val="BFCAD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一度置けば、チーム全員に効き続けます。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13232" y="5138928"/>
            <a:ext cx="107652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この2つは、どちらか一方ではありません。両方あって、はじめて仕事で使えます。</a:t>
            </a:r>
            <a:endParaRPr lang="en-US" sz="1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38383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AB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" y="3840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4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2194560" y="516636"/>
            <a:ext cx="237744" cy="18288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5" name="Text 3"/>
          <p:cNvSpPr/>
          <p:nvPr/>
        </p:nvSpPr>
        <p:spPr>
          <a:xfrm>
            <a:off x="2560320" y="3840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プロンプトだけでは、続かない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" y="1051560"/>
            <a:ext cx="10765231" cy="810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544"/>
              </a:lnSpc>
              <a:buNone/>
            </a:pPr>
            <a:r>
              <a:rPr lang="en-US" sz="3200" dirty="0">
                <a:solidFill>
                  <a:srgbClr val="1A1A2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うまくいった聞き方は、残していく。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13232" y="2423160"/>
            <a:ext cx="237584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8E6E0"/>
            </a:solidFill>
            <a:prstDash val="solid"/>
          </a:ln>
          <a:effectLst>
            <a:outerShdw sx="100000" sy="100000" kx="0" ky="0" algn="bl" rotWithShape="0" blurRad="177800" dist="25400" dir="5400000">
              <a:srgbClr val="1A1A2E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2679192"/>
            <a:ext cx="201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60" kern="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77824" y="2990088"/>
            <a:ext cx="2046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うまく聞けた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483864"/>
            <a:ext cx="197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4つの要素を入れて、良い答えが出た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43936" y="3214116"/>
            <a:ext cx="310896" cy="201168"/>
          </a:xfrm>
          <a:prstGeom prst="rightArrow">
            <a:avLst/>
          </a:prstGeom>
          <a:solidFill>
            <a:srgbClr val="2E5496"/>
          </a:solidFill>
          <a:ln/>
        </p:spPr>
      </p:sp>
      <p:sp>
        <p:nvSpPr>
          <p:cNvPr id="12" name="Shape 10"/>
          <p:cNvSpPr/>
          <p:nvPr/>
        </p:nvSpPr>
        <p:spPr>
          <a:xfrm>
            <a:off x="3509696" y="2423160"/>
            <a:ext cx="237584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8E6E0"/>
            </a:solidFill>
            <a:prstDash val="solid"/>
          </a:ln>
          <a:effectLst>
            <a:outerShdw sx="100000" sy="100000" kx="0" ky="0" algn="bl" rotWithShape="0" blurRad="177800" dist="25400" dir="5400000">
              <a:srgbClr val="1A1A2E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92576" y="2679192"/>
            <a:ext cx="201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60" kern="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74288" y="2990088"/>
            <a:ext cx="2046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型として残す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10864" y="3483864"/>
            <a:ext cx="197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そのプロンプトをコピーして保存する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0400" y="3214116"/>
            <a:ext cx="310896" cy="201168"/>
          </a:xfrm>
          <a:prstGeom prst="rightArrow">
            <a:avLst/>
          </a:prstGeom>
          <a:solidFill>
            <a:srgbClr val="2E5496"/>
          </a:solidFill>
          <a:ln/>
        </p:spPr>
      </p:sp>
      <p:sp>
        <p:nvSpPr>
          <p:cNvPr id="17" name="Shape 15"/>
          <p:cNvSpPr/>
          <p:nvPr/>
        </p:nvSpPr>
        <p:spPr>
          <a:xfrm>
            <a:off x="6306160" y="2423160"/>
            <a:ext cx="237584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8E6E0"/>
            </a:solidFill>
            <a:prstDash val="solid"/>
          </a:ln>
          <a:effectLst>
            <a:outerShdw sx="100000" sy="100000" kx="0" ky="0" algn="bl" rotWithShape="0" blurRad="177800" dist="25400" dir="5400000">
              <a:srgbClr val="1A1A2E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89040" y="2679192"/>
            <a:ext cx="201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60" kern="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70752" y="2990088"/>
            <a:ext cx="2046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チームで使う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07328" y="3483864"/>
            <a:ext cx="197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誰が使っても同じ品質になる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736863" y="3214116"/>
            <a:ext cx="310896" cy="201168"/>
          </a:xfrm>
          <a:prstGeom prst="rightArrow">
            <a:avLst/>
          </a:prstGeom>
          <a:solidFill>
            <a:srgbClr val="2E5496"/>
          </a:solidFill>
          <a:ln/>
        </p:spPr>
      </p:sp>
      <p:sp>
        <p:nvSpPr>
          <p:cNvPr id="22" name="Shape 20"/>
          <p:cNvSpPr/>
          <p:nvPr/>
        </p:nvSpPr>
        <p:spPr>
          <a:xfrm>
            <a:off x="9102623" y="2423160"/>
            <a:ext cx="2375840" cy="1783080"/>
          </a:xfrm>
          <a:prstGeom prst="roundRect">
            <a:avLst>
              <a:gd name="adj" fmla="val 3077"/>
            </a:avLst>
          </a:prstGeom>
          <a:solidFill>
            <a:srgbClr val="E9EFF7"/>
          </a:solidFill>
          <a:ln w="19050">
            <a:solidFill>
              <a:srgbClr val="2E5496"/>
            </a:solidFill>
            <a:prstDash val="solid"/>
          </a:ln>
          <a:effectLst>
            <a:outerShdw sx="100000" sy="100000" kx="0" ky="0" algn="bl" rotWithShape="0" blurRad="177800" dist="25400" dir="5400000">
              <a:srgbClr val="1A1A2E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285503" y="2679192"/>
            <a:ext cx="201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60" kern="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267215" y="2990088"/>
            <a:ext cx="2046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仕組みに変わる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303791" y="3483864"/>
            <a:ext cx="197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もう毎回書かなくてよくなる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3232" y="4754880"/>
            <a:ext cx="107652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この「置いておく」側の話は、</a:t>
            </a:r>
            <a:pPr algn="ctr" indent="0" marL="0">
              <a:buNone/>
            </a:pPr>
            <a:r>
              <a:rPr lang="en-US" sz="1500" b="1" dirty="0">
                <a:solidFill>
                  <a:srgbClr val="2E549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コンテキストエンジニアリング編</a:t>
            </a:r>
            <a:pPr algn="ctr" indent="0" marL="0">
              <a:buNone/>
            </a:pPr>
            <a:r>
              <a:rPr lang="en-US" sz="15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で詳しく扱います。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38383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" y="3840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8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5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2194560" y="516636"/>
            <a:ext cx="237744" cy="18288"/>
          </a:xfrm>
          <a:prstGeom prst="rect">
            <a:avLst/>
          </a:prstGeom>
          <a:solidFill>
            <a:srgbClr val="D8E4F0"/>
          </a:solidFill>
          <a:ln/>
        </p:spPr>
      </p:sp>
      <p:sp>
        <p:nvSpPr>
          <p:cNvPr id="5" name="Text 3"/>
          <p:cNvSpPr/>
          <p:nvPr/>
        </p:nvSpPr>
        <p:spPr>
          <a:xfrm>
            <a:off x="2560320" y="3840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CB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明日からできること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" y="1051560"/>
            <a:ext cx="10765231" cy="810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544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迷ったら、この順番で書けば大丈夫。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13232" y="2468880"/>
            <a:ext cx="3405530" cy="2331720"/>
          </a:xfrm>
          <a:prstGeom prst="roundRect">
            <a:avLst>
              <a:gd name="adj" fmla="val 2353"/>
            </a:avLst>
          </a:prstGeom>
          <a:solidFill>
            <a:srgbClr val="2A4270"/>
          </a:solidFill>
          <a:ln w="9525">
            <a:solidFill>
              <a:srgbClr val="3A54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552" y="2743200"/>
            <a:ext cx="384048" cy="384048"/>
          </a:xfrm>
          <a:prstGeom prst="ellipse">
            <a:avLst/>
          </a:prstGeom>
          <a:solidFill>
            <a:srgbClr val="D8E4F0"/>
          </a:solidFill>
          <a:ln/>
        </p:spPr>
      </p:sp>
      <p:sp>
        <p:nvSpPr>
          <p:cNvPr id="9" name="Text 7"/>
          <p:cNvSpPr/>
          <p:nvPr/>
        </p:nvSpPr>
        <p:spPr>
          <a:xfrm>
            <a:off x="987552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87552" y="3310128"/>
            <a:ext cx="285689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まず、動詞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87552" y="3895344"/>
            <a:ext cx="285689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BFCAD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「〜について」で止めない。「出して」「まとめて」「比べて」まで書く。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93082" y="2468880"/>
            <a:ext cx="3405530" cy="2331720"/>
          </a:xfrm>
          <a:prstGeom prst="roundRect">
            <a:avLst>
              <a:gd name="adj" fmla="val 2353"/>
            </a:avLst>
          </a:prstGeom>
          <a:solidFill>
            <a:srgbClr val="2A4270"/>
          </a:solidFill>
          <a:ln w="9525">
            <a:solidFill>
              <a:srgbClr val="3A54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7402" y="2743200"/>
            <a:ext cx="384048" cy="384048"/>
          </a:xfrm>
          <a:prstGeom prst="ellipse">
            <a:avLst/>
          </a:prstGeom>
          <a:solidFill>
            <a:srgbClr val="D8E4F0"/>
          </a:solidFill>
          <a:ln/>
        </p:spPr>
      </p:sp>
      <p:sp>
        <p:nvSpPr>
          <p:cNvPr id="14" name="Text 12"/>
          <p:cNvSpPr/>
          <p:nvPr/>
        </p:nvSpPr>
        <p:spPr>
          <a:xfrm>
            <a:off x="4667402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7402" y="3310128"/>
            <a:ext cx="285689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次に、使い道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67402" y="3895344"/>
            <a:ext cx="285689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BFCAD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「部長への報告に使います」の一文を足す。これだけで中身が変わる。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72933" y="2468880"/>
            <a:ext cx="3405530" cy="2331720"/>
          </a:xfrm>
          <a:prstGeom prst="roundRect">
            <a:avLst>
              <a:gd name="adj" fmla="val 2353"/>
            </a:avLst>
          </a:prstGeom>
          <a:solidFill>
            <a:srgbClr val="2A4270"/>
          </a:solidFill>
          <a:ln w="9525">
            <a:solidFill>
              <a:srgbClr val="3A54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47253" y="2743200"/>
            <a:ext cx="384048" cy="384048"/>
          </a:xfrm>
          <a:prstGeom prst="ellipse">
            <a:avLst/>
          </a:prstGeom>
          <a:solidFill>
            <a:srgbClr val="D8E4F0"/>
          </a:solidFill>
          <a:ln/>
        </p:spPr>
      </p:sp>
      <p:sp>
        <p:nvSpPr>
          <p:cNvPr id="19" name="Text 17"/>
          <p:cNvSpPr/>
          <p:nvPr/>
        </p:nvSpPr>
        <p:spPr>
          <a:xfrm>
            <a:off x="8347253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47253" y="3310128"/>
            <a:ext cx="285689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最後に、実物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47253" y="3895344"/>
            <a:ext cx="285689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BFCAD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手元のファイル・過去の資料を貼る。ここがいちばん効きます。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13232" y="5074920"/>
            <a:ext cx="10765231" cy="868680"/>
          </a:xfrm>
          <a:prstGeom prst="roundRect">
            <a:avLst>
              <a:gd name="adj" fmla="val 6316"/>
            </a:avLst>
          </a:prstGeom>
          <a:solidFill>
            <a:srgbClr val="2A4270"/>
          </a:solidFill>
          <a:ln w="9525">
            <a:solidFill>
              <a:srgbClr val="3A54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5074920"/>
            <a:ext cx="1003371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CAD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一度で完璧を狙わなくて大丈夫。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「もっと短く」「表にして」と足していくのが、いちばん速い書き方です。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38383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AB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" y="3840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5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2194560" y="516636"/>
            <a:ext cx="237744" cy="18288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5" name="Text 3"/>
          <p:cNvSpPr/>
          <p:nvPr/>
        </p:nvSpPr>
        <p:spPr>
          <a:xfrm>
            <a:off x="2560320" y="3840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明日からできること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" y="1051560"/>
            <a:ext cx="10765231" cy="810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544"/>
              </a:lnSpc>
              <a:buNone/>
            </a:pPr>
            <a:r>
              <a:rPr lang="en-US" sz="3200" dirty="0">
                <a:solidFill>
                  <a:srgbClr val="1A1A2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送信する前の、4つの確認。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13232" y="2286000"/>
            <a:ext cx="10765231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E8E6E0"/>
            </a:solidFill>
            <a:prstDash val="solid"/>
          </a:ln>
          <a:effectLst>
            <a:outerShdw sx="100000" sy="100000" kx="0" ky="0" algn="bl" rotWithShape="0" blurRad="177800" dist="25400" dir="5400000">
              <a:srgbClr val="1A1A2E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05840" y="2459736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F8F7F4"/>
          </a:solidFill>
          <a:ln w="15875">
            <a:solidFill>
              <a:srgbClr val="2E54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23774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動詞は入っているか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2660904"/>
            <a:ext cx="957651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「〜について」で終わっていませんか。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3232" y="3090672"/>
            <a:ext cx="10765231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E8E6E0"/>
            </a:solidFill>
            <a:prstDash val="solid"/>
          </a:ln>
          <a:effectLst>
            <a:outerShdw sx="100000" sy="100000" kx="0" ky="0" algn="bl" rotWithShape="0" blurRad="177800" dist="25400" dir="5400000">
              <a:srgbClr val="1A1A2E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05840" y="3264408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F8F7F4"/>
          </a:solidFill>
          <a:ln w="15875">
            <a:solidFill>
              <a:srgbClr val="2E54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4480" y="318211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使い道は書いたか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3465576"/>
            <a:ext cx="957651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誰が読むのか、何に使うのかを一言。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13232" y="3895344"/>
            <a:ext cx="10765231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E8E6E0"/>
            </a:solidFill>
            <a:prstDash val="solid"/>
          </a:ln>
          <a:effectLst>
            <a:outerShdw sx="100000" sy="100000" kx="0" ky="0" algn="bl" rotWithShape="0" blurRad="177800" dist="25400" dir="5400000">
              <a:srgbClr val="1A1A2E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05840" y="4069080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F8F7F4"/>
          </a:solidFill>
          <a:ln w="15875">
            <a:solidFill>
              <a:srgbClr val="2E54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0" y="398678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分量と形式は決めたか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4270248"/>
            <a:ext cx="957651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何個・何字・どんな形。決めないと勝手に決まります。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13232" y="4700016"/>
            <a:ext cx="10765231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E8E6E0"/>
            </a:solidFill>
            <a:prstDash val="solid"/>
          </a:ln>
          <a:effectLst>
            <a:outerShdw sx="100000" sy="100000" kx="0" ky="0" algn="bl" rotWithShape="0" blurRad="177800" dist="25400" dir="5400000">
              <a:srgbClr val="1A1A2E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05840" y="4873752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F8F7F4"/>
          </a:solidFill>
          <a:ln w="15875">
            <a:solidFill>
              <a:srgbClr val="2E54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54480" y="479145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渡せる実物はないか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54480" y="5074920"/>
            <a:ext cx="957651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手元のファイル、過去の資料。貼れるものは貼る。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3232" y="5623560"/>
            <a:ext cx="107652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4つ全部でなくてもいい。1つ足すたびに、答えは必ず良くなります。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38383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" y="3840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8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5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2194560" y="516636"/>
            <a:ext cx="237744" cy="18288"/>
          </a:xfrm>
          <a:prstGeom prst="rect">
            <a:avLst/>
          </a:prstGeom>
          <a:solidFill>
            <a:srgbClr val="D8E4F0"/>
          </a:solidFill>
          <a:ln/>
        </p:spPr>
      </p:sp>
      <p:sp>
        <p:nvSpPr>
          <p:cNvPr id="5" name="Text 3"/>
          <p:cNvSpPr/>
          <p:nvPr/>
        </p:nvSpPr>
        <p:spPr>
          <a:xfrm>
            <a:off x="2560320" y="3840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CB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明日からできること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" y="1051560"/>
            <a:ext cx="10765231" cy="810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544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個人とチームで、できること。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13232" y="2286000"/>
            <a:ext cx="5108296" cy="2651760"/>
          </a:xfrm>
          <a:prstGeom prst="roundRect">
            <a:avLst>
              <a:gd name="adj" fmla="val 2414"/>
            </a:avLst>
          </a:prstGeom>
          <a:solidFill>
            <a:srgbClr val="2A4270"/>
          </a:solidFill>
          <a:ln w="9525">
            <a:solidFill>
              <a:srgbClr val="3A54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4712" y="2633472"/>
            <a:ext cx="960120" cy="310896"/>
          </a:xfrm>
          <a:prstGeom prst="roundRect">
            <a:avLst>
              <a:gd name="adj" fmla="val 11765"/>
            </a:avLst>
          </a:prstGeom>
          <a:solidFill>
            <a:srgbClr val="3A548A"/>
          </a:solidFill>
          <a:ln/>
        </p:spPr>
      </p:sp>
      <p:sp>
        <p:nvSpPr>
          <p:cNvPr id="9" name="Text 7"/>
          <p:cNvSpPr/>
          <p:nvPr/>
        </p:nvSpPr>
        <p:spPr>
          <a:xfrm>
            <a:off x="1124712" y="263347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個人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24712" y="3154680"/>
            <a:ext cx="428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うまく書けた1つを、保存する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24712" y="3749040"/>
            <a:ext cx="4285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BFCAD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今日、良い答えが返ってきたプロンプトを、そのままメモに貼っておく。次から使い回せます。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24712" y="4407408"/>
            <a:ext cx="428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ゼロから書くより、直すほうが速い。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70168" y="2286000"/>
            <a:ext cx="5108296" cy="2651760"/>
          </a:xfrm>
          <a:prstGeom prst="roundRect">
            <a:avLst>
              <a:gd name="adj" fmla="val 2414"/>
            </a:avLst>
          </a:prstGeom>
          <a:solidFill>
            <a:srgbClr val="2A4270"/>
          </a:solidFill>
          <a:ln w="9525">
            <a:solidFill>
              <a:srgbClr val="3A54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81648" y="2633472"/>
            <a:ext cx="960120" cy="310896"/>
          </a:xfrm>
          <a:prstGeom prst="roundRect">
            <a:avLst>
              <a:gd name="adj" fmla="val 11765"/>
            </a:avLst>
          </a:prstGeom>
          <a:solidFill>
            <a:srgbClr val="3A548A"/>
          </a:solidFill>
          <a:ln/>
        </p:spPr>
      </p:sp>
      <p:sp>
        <p:nvSpPr>
          <p:cNvPr id="15" name="Text 13"/>
          <p:cNvSpPr/>
          <p:nvPr/>
        </p:nvSpPr>
        <p:spPr>
          <a:xfrm>
            <a:off x="6781648" y="263347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チーム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81648" y="3154680"/>
            <a:ext cx="428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よく使う業務の「型」を作る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781648" y="3749040"/>
            <a:ext cx="4285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BFCAD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応対要約、メール下書き、議事録整理。頻度の高い業務から1つだけ型にしてみる。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781648" y="4407408"/>
            <a:ext cx="428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1つ作れば、チーム全員の底上げになります。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38383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AB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" y="3840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5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2194560" y="516636"/>
            <a:ext cx="237744" cy="18288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5" name="Text 3"/>
          <p:cNvSpPr/>
          <p:nvPr/>
        </p:nvSpPr>
        <p:spPr>
          <a:xfrm>
            <a:off x="2560320" y="3840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明日からできること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" y="1051560"/>
            <a:ext cx="10765231" cy="810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544"/>
              </a:lnSpc>
              <a:buNone/>
            </a:pPr>
            <a:r>
              <a:rPr lang="en-US" sz="3200" dirty="0">
                <a:solidFill>
                  <a:srgbClr val="1A1A2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ありがちな、3つの勘違い。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13232" y="2560320"/>
            <a:ext cx="340553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8E6E0"/>
            </a:solidFill>
            <a:prstDash val="solid"/>
          </a:ln>
          <a:effectLst>
            <a:outerShdw sx="100000" sy="100000" kx="0" ky="0" algn="bl" rotWithShape="0" blurRad="177800" dist="25400" dir="5400000">
              <a:srgbClr val="1A1A2E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05840" y="2834640"/>
            <a:ext cx="384048" cy="384048"/>
          </a:xfrm>
          <a:prstGeom prst="ellipse">
            <a:avLst/>
          </a:prstGeom>
          <a:solidFill>
            <a:srgbClr val="FBDDE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3364992"/>
            <a:ext cx="28203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「長く書けばいい」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3950208"/>
            <a:ext cx="282031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長さではなく、決めるべきことが決まっているかどうかです。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93082" y="2560320"/>
            <a:ext cx="340553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8E6E0"/>
            </a:solidFill>
            <a:prstDash val="solid"/>
          </a:ln>
          <a:effectLst>
            <a:outerShdw sx="100000" sy="100000" kx="0" ky="0" algn="bl" rotWithShape="0" blurRad="177800" dist="25400" dir="5400000">
              <a:srgbClr val="1A1A2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85690" y="2834640"/>
            <a:ext cx="384048" cy="384048"/>
          </a:xfrm>
          <a:prstGeom prst="ellipse">
            <a:avLst/>
          </a:prstGeom>
          <a:solidFill>
            <a:srgbClr val="FBDDE0"/>
          </a:solidFill>
          <a:ln/>
        </p:spPr>
      </p:sp>
      <p:sp>
        <p:nvSpPr>
          <p:cNvPr id="14" name="Text 12"/>
          <p:cNvSpPr/>
          <p:nvPr/>
        </p:nvSpPr>
        <p:spPr>
          <a:xfrm>
            <a:off x="468569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85690" y="3364992"/>
            <a:ext cx="28203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「特別な言い回しが要る」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85690" y="3950208"/>
            <a:ext cx="282031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呪文はありません。普通の日本語で、条件を伝えるだけです。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72933" y="2560320"/>
            <a:ext cx="340553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8E6E0"/>
            </a:solidFill>
            <a:prstDash val="solid"/>
          </a:ln>
          <a:effectLst>
            <a:outerShdw sx="100000" sy="100000" kx="0" ky="0" algn="bl" rotWithShape="0" blurRad="177800" dist="25400" dir="5400000">
              <a:srgbClr val="1A1A2E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65541" y="2834640"/>
            <a:ext cx="384048" cy="384048"/>
          </a:xfrm>
          <a:prstGeom prst="ellipse">
            <a:avLst/>
          </a:prstGeom>
          <a:solidFill>
            <a:srgbClr val="FBDDE0"/>
          </a:solidFill>
          <a:ln/>
        </p:spPr>
      </p:sp>
      <p:sp>
        <p:nvSpPr>
          <p:cNvPr id="19" name="Text 17"/>
          <p:cNvSpPr/>
          <p:nvPr/>
        </p:nvSpPr>
        <p:spPr>
          <a:xfrm>
            <a:off x="8365541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65541" y="3364992"/>
            <a:ext cx="28203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「一発で当てないと」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65541" y="3950208"/>
            <a:ext cx="282031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会話で足していくほうが速い。1回目は下書きで構いません。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3232" y="4937760"/>
            <a:ext cx="107652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うまい人は、特別なことをしていません。決めるべきことを決めているだけです。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38383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" y="3840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8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6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2194560" y="516636"/>
            <a:ext cx="237744" cy="18288"/>
          </a:xfrm>
          <a:prstGeom prst="rect">
            <a:avLst/>
          </a:prstGeom>
          <a:solidFill>
            <a:srgbClr val="D8E4F0"/>
          </a:solidFill>
          <a:ln/>
        </p:spPr>
      </p:sp>
      <p:sp>
        <p:nvSpPr>
          <p:cNvPr id="5" name="Text 3"/>
          <p:cNvSpPr/>
          <p:nvPr/>
        </p:nvSpPr>
        <p:spPr>
          <a:xfrm>
            <a:off x="2560320" y="3840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CB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まとめ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164592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40" kern="0" dirty="0">
                <a:solidFill>
                  <a:srgbClr val="D8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2194560"/>
            <a:ext cx="1076523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プロンプトを書くことは、</a:t>
            </a:r>
            <a:endParaRPr lang="en-US" sz="3100" dirty="0"/>
          </a:p>
          <a:p>
            <a:pPr algn="ctr" indent="0" marL="0">
              <a:lnSpc>
                <a:spcPts val="520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特別な技術ではありません。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5949544" y="3794760"/>
            <a:ext cx="292608" cy="457200"/>
          </a:xfrm>
          <a:prstGeom prst="downArrow">
            <a:avLst/>
          </a:prstGeom>
          <a:solidFill>
            <a:srgbClr val="D8E4F0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4526280"/>
            <a:ext cx="1076523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いつもの</a:t>
            </a:r>
            <a:pPr algn="ctr" indent="0" marL="0">
              <a:buNone/>
            </a:pPr>
            <a:r>
              <a:rPr lang="en-US" sz="3600" dirty="0">
                <a:solidFill>
                  <a:srgbClr val="FF5D6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「絞り込み」</a:t>
            </a:r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を、言葉でやるだけ。</a:t>
            </a:r>
            <a:endParaRPr lang="en-US" sz="3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38383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AB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" y="3840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6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2194560" y="516636"/>
            <a:ext cx="237744" cy="18288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5" name="Text 3"/>
          <p:cNvSpPr/>
          <p:nvPr/>
        </p:nvSpPr>
        <p:spPr>
          <a:xfrm>
            <a:off x="2560320" y="3840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まとめ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" y="1051560"/>
            <a:ext cx="10765231" cy="810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544"/>
              </a:lnSpc>
              <a:buNone/>
            </a:pPr>
            <a:r>
              <a:rPr lang="en-US" sz="3200" dirty="0">
                <a:solidFill>
                  <a:srgbClr val="1A1A2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覚えて帰るのは、この4つだけ。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13232" y="2468880"/>
            <a:ext cx="2567864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E8E6E0"/>
            </a:solidFill>
            <a:prstDash val="solid"/>
          </a:ln>
          <a:effectLst>
            <a:outerShdw sx="100000" sy="100000" kx="0" ky="0" algn="bl" rotWithShape="0" blurRad="177800" dist="25400" dir="5400000">
              <a:srgbClr val="1A1A2E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777708" y="2743200"/>
            <a:ext cx="438912" cy="438912"/>
          </a:xfrm>
          <a:prstGeom prst="ellipse">
            <a:avLst/>
          </a:prstGeom>
          <a:solidFill>
            <a:srgbClr val="2E5496"/>
          </a:solidFill>
          <a:ln/>
        </p:spPr>
      </p:sp>
      <p:sp>
        <p:nvSpPr>
          <p:cNvPr id="9" name="Text 7"/>
          <p:cNvSpPr/>
          <p:nvPr/>
        </p:nvSpPr>
        <p:spPr>
          <a:xfrm>
            <a:off x="1777708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6112" y="3310128"/>
            <a:ext cx="2202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指示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3749040"/>
            <a:ext cx="2165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何をしてほしいか</a:t>
            </a:r>
            <a:endParaRPr lang="en-US" sz="12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動詞で言い切る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45688" y="2468880"/>
            <a:ext cx="2567864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E8E6E0"/>
            </a:solidFill>
            <a:prstDash val="solid"/>
          </a:ln>
          <a:effectLst>
            <a:outerShdw sx="100000" sy="100000" kx="0" ky="0" algn="bl" rotWithShape="0" blurRad="177800" dist="25400" dir="5400000">
              <a:srgbClr val="1A1A2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10164" y="2743200"/>
            <a:ext cx="438912" cy="438912"/>
          </a:xfrm>
          <a:prstGeom prst="ellipse">
            <a:avLst/>
          </a:prstGeom>
          <a:solidFill>
            <a:srgbClr val="2E5496"/>
          </a:solidFill>
          <a:ln/>
        </p:spPr>
      </p:sp>
      <p:sp>
        <p:nvSpPr>
          <p:cNvPr id="14" name="Text 12"/>
          <p:cNvSpPr/>
          <p:nvPr/>
        </p:nvSpPr>
        <p:spPr>
          <a:xfrm>
            <a:off x="4510164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28568" y="3310128"/>
            <a:ext cx="2202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目的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646856" y="3749040"/>
            <a:ext cx="2165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何のために使うか</a:t>
            </a:r>
            <a:endParaRPr lang="en-US" sz="12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誰が読むのか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8144" y="2468880"/>
            <a:ext cx="2567864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E8E6E0"/>
            </a:solidFill>
            <a:prstDash val="solid"/>
          </a:ln>
          <a:effectLst>
            <a:outerShdw sx="100000" sy="100000" kx="0" ky="0" algn="bl" rotWithShape="0" blurRad="177800" dist="25400" dir="5400000">
              <a:srgbClr val="1A1A2E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242620" y="2743200"/>
            <a:ext cx="438912" cy="438912"/>
          </a:xfrm>
          <a:prstGeom prst="ellipse">
            <a:avLst/>
          </a:prstGeom>
          <a:solidFill>
            <a:srgbClr val="2E5496"/>
          </a:solidFill>
          <a:ln/>
        </p:spPr>
      </p:sp>
      <p:sp>
        <p:nvSpPr>
          <p:cNvPr id="19" name="Text 17"/>
          <p:cNvSpPr/>
          <p:nvPr/>
        </p:nvSpPr>
        <p:spPr>
          <a:xfrm>
            <a:off x="724262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61024" y="3310128"/>
            <a:ext cx="2202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条件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379312" y="3749040"/>
            <a:ext cx="2165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分量・形式・トーン</a:t>
            </a:r>
            <a:endParaRPr lang="en-US" sz="12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やらないこと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910599" y="2468880"/>
            <a:ext cx="2567864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E8E6E0"/>
            </a:solidFill>
            <a:prstDash val="solid"/>
          </a:ln>
          <a:effectLst>
            <a:outerShdw sx="100000" sy="100000" kx="0" ky="0" algn="bl" rotWithShape="0" blurRad="177800" dist="25400" dir="5400000">
              <a:srgbClr val="1A1A2E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975075" y="2743200"/>
            <a:ext cx="438912" cy="438912"/>
          </a:xfrm>
          <a:prstGeom prst="ellipse">
            <a:avLst/>
          </a:prstGeom>
          <a:solidFill>
            <a:srgbClr val="2E5496"/>
          </a:solidFill>
          <a:ln/>
        </p:spPr>
      </p:sp>
      <p:sp>
        <p:nvSpPr>
          <p:cNvPr id="24" name="Text 22"/>
          <p:cNvSpPr/>
          <p:nvPr/>
        </p:nvSpPr>
        <p:spPr>
          <a:xfrm>
            <a:off x="9975075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093479" y="3310128"/>
            <a:ext cx="2202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参照データ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111767" y="3749040"/>
            <a:ext cx="2165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判断の材料になる</a:t>
            </a:r>
            <a:endParaRPr lang="en-US" sz="12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実物の情報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13232" y="4754880"/>
            <a:ext cx="10765231" cy="868680"/>
          </a:xfrm>
          <a:prstGeom prst="roundRect">
            <a:avLst>
              <a:gd name="adj" fmla="val 6316"/>
            </a:avLst>
          </a:prstGeom>
          <a:solidFill>
            <a:srgbClr val="E9EFF7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78992" y="4754880"/>
            <a:ext cx="1003371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6B7A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そして忘れずに ── </a:t>
            </a:r>
            <a:pPr algn="ctr"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毎回同じことは、書くのではなく置いておく。</a:t>
            </a:r>
            <a:endParaRPr lang="en-US" sz="15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38383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" y="3840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8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6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2194560" y="516636"/>
            <a:ext cx="237744" cy="18288"/>
          </a:xfrm>
          <a:prstGeom prst="rect">
            <a:avLst/>
          </a:prstGeom>
          <a:solidFill>
            <a:srgbClr val="D8E4F0"/>
          </a:solidFill>
          <a:ln/>
        </p:spPr>
      </p:sp>
      <p:sp>
        <p:nvSpPr>
          <p:cNvPr id="5" name="Text 3"/>
          <p:cNvSpPr/>
          <p:nvPr/>
        </p:nvSpPr>
        <p:spPr>
          <a:xfrm>
            <a:off x="2560320" y="3840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CB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まとめ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" y="1051560"/>
            <a:ext cx="10765231" cy="810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544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明日、1つだけやってみてください。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2176272" y="2377440"/>
            <a:ext cx="7839151" cy="1965960"/>
          </a:xfrm>
          <a:prstGeom prst="roundRect">
            <a:avLst>
              <a:gd name="adj" fmla="val 3721"/>
            </a:avLst>
          </a:prstGeom>
          <a:solidFill>
            <a:srgbClr val="141D35"/>
          </a:solidFill>
          <a:ln w="15875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42032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8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TOMORROW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542032" y="3108960"/>
            <a:ext cx="710763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2400" dirty="0">
                <a:solidFill>
                  <a:srgbClr val="E4EBF5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いつものプロンプトに、</a:t>
            </a:r>
            <a:pPr indent="0" marL="0">
              <a:lnSpc>
                <a:spcPts val="4200"/>
              </a:lnSpc>
              <a:buNone/>
            </a:pPr>
            <a:r>
              <a:rPr lang="en-US" sz="2400" b="1" dirty="0">
                <a:solidFill>
                  <a:srgbClr val="FF5D6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「これは〇〇に使います」</a:t>
            </a:r>
            <a:pPr indent="0" marL="0">
              <a:lnSpc>
                <a:spcPts val="4200"/>
              </a:lnSpc>
              <a:buNone/>
            </a:pPr>
            <a:endParaRPr lang="en-US" sz="2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2400" dirty="0">
                <a:solidFill>
                  <a:srgbClr val="E4EBF5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の一文を足すだけ。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13232" y="4754880"/>
            <a:ext cx="1076523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C3CEE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4つ全部を完璧にやろうとすると、たいてい続きません。</a:t>
            </a:r>
            <a:endParaRPr lang="en-US" sz="14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C3CEE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目的の一文だけでも、返ってくる答えははっきり変わります。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1D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38383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" y="3840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8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6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2194560" y="516636"/>
            <a:ext cx="237744" cy="18288"/>
          </a:xfrm>
          <a:prstGeom prst="rect">
            <a:avLst/>
          </a:prstGeom>
          <a:solidFill>
            <a:srgbClr val="D8E4F0"/>
          </a:solidFill>
          <a:ln/>
        </p:spPr>
      </p:sp>
      <p:sp>
        <p:nvSpPr>
          <p:cNvPr id="5" name="Text 3"/>
          <p:cNvSpPr/>
          <p:nvPr/>
        </p:nvSpPr>
        <p:spPr>
          <a:xfrm>
            <a:off x="2560320" y="3840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CB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まとめ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321040" y="3291840"/>
            <a:ext cx="5486400" cy="5486400"/>
          </a:xfrm>
          <a:prstGeom prst="ellipse">
            <a:avLst/>
          </a:prstGeom>
          <a:solidFill>
            <a:srgbClr val="141D35">
              <a:alpha val="0"/>
            </a:srgbClr>
          </a:solidFill>
          <a:ln w="9525">
            <a:solidFill>
              <a:srgbClr val="D8E4F0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0" y="4114800"/>
            <a:ext cx="3840480" cy="3840480"/>
          </a:xfrm>
          <a:prstGeom prst="ellipse">
            <a:avLst/>
          </a:prstGeom>
          <a:solidFill>
            <a:srgbClr val="141D35">
              <a:alpha val="0"/>
            </a:srgbClr>
          </a:solidFill>
          <a:ln w="9525">
            <a:solidFill>
              <a:srgbClr val="D8E4F0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21240" y="4892040"/>
            <a:ext cx="2286000" cy="2286000"/>
          </a:xfrm>
          <a:prstGeom prst="ellipse">
            <a:avLst/>
          </a:prstGeom>
          <a:solidFill>
            <a:srgbClr val="141D35">
              <a:alpha val="0"/>
            </a:srgbClr>
          </a:solidFill>
          <a:ln w="9525">
            <a:solidFill>
              <a:srgbClr val="D8E4F0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54512" y="5925312"/>
            <a:ext cx="219456" cy="219456"/>
          </a:xfrm>
          <a:prstGeom prst="ellipse">
            <a:avLst/>
          </a:prstGeom>
          <a:solidFill>
            <a:srgbClr val="FF5D6A"/>
          </a:solidFill>
          <a:ln/>
        </p:spPr>
      </p:sp>
      <p:sp>
        <p:nvSpPr>
          <p:cNvPr id="10" name="Shape 8"/>
          <p:cNvSpPr/>
          <p:nvPr/>
        </p:nvSpPr>
        <p:spPr>
          <a:xfrm>
            <a:off x="1496416" y="1737360"/>
            <a:ext cx="2148840" cy="475488"/>
          </a:xfrm>
          <a:prstGeom prst="roundRect">
            <a:avLst>
              <a:gd name="adj" fmla="val 9615"/>
            </a:avLst>
          </a:prstGeom>
          <a:solidFill>
            <a:srgbClr val="242E48"/>
          </a:solidFill>
          <a:ln w="9525">
            <a:solidFill>
              <a:srgbClr val="3A45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96416" y="173736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5DEE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① 指示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846424" y="1737360"/>
            <a:ext cx="2148840" cy="475488"/>
          </a:xfrm>
          <a:prstGeom prst="roundRect">
            <a:avLst>
              <a:gd name="adj" fmla="val 9615"/>
            </a:avLst>
          </a:prstGeom>
          <a:solidFill>
            <a:srgbClr val="242E48"/>
          </a:solidFill>
          <a:ln w="9525">
            <a:solidFill>
              <a:srgbClr val="3A45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6424" y="173736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5DEE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② 目的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96432" y="1737360"/>
            <a:ext cx="2148840" cy="475488"/>
          </a:xfrm>
          <a:prstGeom prst="roundRect">
            <a:avLst>
              <a:gd name="adj" fmla="val 9615"/>
            </a:avLst>
          </a:prstGeom>
          <a:solidFill>
            <a:srgbClr val="242E48"/>
          </a:solidFill>
          <a:ln w="9525">
            <a:solidFill>
              <a:srgbClr val="3A45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6432" y="173736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5DEE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③ 細かな条件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546440" y="1737360"/>
            <a:ext cx="2148840" cy="475488"/>
          </a:xfrm>
          <a:prstGeom prst="roundRect">
            <a:avLst>
              <a:gd name="adj" fmla="val 9615"/>
            </a:avLst>
          </a:prstGeom>
          <a:solidFill>
            <a:srgbClr val="242E48"/>
          </a:solidFill>
          <a:ln w="9525">
            <a:solidFill>
              <a:srgbClr val="3A45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6440" y="173736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5DEE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④ 参照データ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13232" y="2834640"/>
            <a:ext cx="1076523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ぼんやり聞けば、ぼんやり返る。
</a:t>
            </a:r>
            <a:pPr algn="ctr" indent="0" marL="0">
              <a:lnSpc>
                <a:spcPts val="6000"/>
              </a:lnSpc>
              <a:buNone/>
            </a:pPr>
            <a:r>
              <a:rPr lang="en-US" sz="3400" dirty="0">
                <a:solidFill>
                  <a:srgbClr val="FF5D6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絞り込めば、欲しい答えが返る。</a:t>
            </a:r>
            <a:endParaRPr lang="en-US" sz="3400" dirty="0"/>
          </a:p>
        </p:txBody>
      </p:sp>
      <p:sp>
        <p:nvSpPr>
          <p:cNvPr id="19" name="Shape 17"/>
          <p:cNvSpPr/>
          <p:nvPr/>
        </p:nvSpPr>
        <p:spPr>
          <a:xfrm>
            <a:off x="5730088" y="4526280"/>
            <a:ext cx="731520" cy="32004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" y="4892040"/>
            <a:ext cx="107652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8CA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お疲れさまでした。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プロンプトエンジニアリング</dc:title>
  <dc:subject>PptxGenJS Presentation</dc:subject>
  <dc:creator>小澤健祐 / Cinematorico</dc:creator>
  <cp:lastModifiedBy>小澤健祐 / Cinematorico</cp:lastModifiedBy>
  <cp:revision>1</cp:revision>
  <dcterms:created xsi:type="dcterms:W3CDTF">2026-07-23T06:12:03Z</dcterms:created>
  <dcterms:modified xsi:type="dcterms:W3CDTF">2026-07-23T06:12:03Z</dcterms:modified>
</cp:coreProperties>
</file>